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We now own the most complete portfolio in the market. This deck asks leadership to fund a small, senior team whose only job is to sell it as one integrated outcome. It's a bounded, high-leverage bet with a Q3 stop gate. Keep the room focused on the decision: fund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tension: portfolio completeness without a motion to sell it as one. Land the line: 'the customer experiences four Cisco conversations, not one.' Then make inaction concrete: the GAP between a flat renewal and an X-Arch reframe, repeated across ~50 strategic accounts a year, is recurring, not one-time. Source: 01 §1 (problem + cost-of-inaction 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Urgency without hype. The integrations are real and fresh; consolidation and AI builds create cross-architecture entry points right now. First mover on the motion compounds. Source: 01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competitors can't match end-to-end. Walk the loop once, slowly, and point at the arrows — that's where the incremental value lives. Source: 02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role crisply and pre-empt the 'another overlay team' objection: this is leverage that makes existing teams MORE productive. Thin, senior, orchestration-first. Source: 01 §3; 03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mode, not separate headcount. Two things to stress: the mission is focused but the point is durable, multi-year growth for Cisco (it always hands the account back — no hoarding), and 'Black Ops' is a special-forces posture metaphor — fully ethical, nothing hidden from the customer. Source: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deliberately don't boil the ocean: three anchor pillars with the clearest boardroom narrative, plus AI-ready infra as adjacency. Four verticals chosen for high cross-attach, regulatory/resilience pull, and joint Cisco+Splunk strength — swappable without changing the operating design. Source: 02 §4–5; 04 master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is systematized, not dependent on a few heroes. The play library codifies the knowledge so the motion scales and survives key-person risk. Source: 05 §1–2.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end-to-end proof. Walk the transformation: stalled + SI-locked → executive breakthrough → one co-authored architecture → multi-year program. Stress the OT safety boundary as the trust-winner with airport engineering. Source: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money slide. Anchor on break-even (~$9M bookings, about five deals, covers the entire $5.4M cost); everything above is upside. All three scenarios clear break-even — the question is pace, not payback. Illustrative and parameterized. Source: 01 §6; 06 §2–3,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ask plainly and immediately bound the downside: small, senior team; defined spend; a real stop gate at Q3. Ask for the decision. Source: 01 §5; 06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 the skeptic. We measure with control accounts, so influence is proven not asserted; and we can stop at Q3 if the deltas aren't there. Source: 07 §1–3; 05 §7.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clear call to action and a concrete near-term timeline so approval feels actionable, not open-ended. Restate: bounded downside, differentiated upside. Ask for the yes. Source: 01 §9; README one-screen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only if the room asks. Don't present them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for HR/org-design questions. Source: 03 §1–3.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'where does it sit / who owns what' questions. Source: 03 §5,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'how do we actually sell this' questions. Source: 04 §1–4.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OT/operations stakeholders. Source: 04 OT safety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finance deep-dives. Source: 06 §0,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comp/quota questions. Source: 05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competitive/positioning questions. Source: 02 §7.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risk/governance questions. Source: 07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BCEB"/>
                </a:solidFill>
                <a:latin typeface="Calibri"/>
              </a:rPr>
              <a:t>EXECUTIVE FUNDING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2F4F8"/>
                </a:solidFill>
                <a:latin typeface="Calibri"/>
              </a:rPr>
              <a:t>Field CTO X-Arch Selling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9AA3B2"/>
                </a:solidFill>
                <a:latin typeface="Calibri"/>
              </a:rPr>
              <a:t>Funding the motion that monetizes Cisco + Splunk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0907" y="4892040"/>
            <a:ext cx="1691640" cy="548640"/>
          </a:xfrm>
          <a:prstGeom prst="roundRect">
            <a:avLst/>
          </a:prstGeom>
          <a:solidFill>
            <a:srgbClr val="24243C"/>
          </a:solidFill>
          <a:ln w="12700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00BCEB"/>
                </a:solidFill>
                <a:latin typeface="Calibri"/>
              </a:rPr>
              <a:t>Sense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25699" y="5065776"/>
            <a:ext cx="356616" cy="201168"/>
          </a:xfrm>
          <a:prstGeom prst="right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55467" y="4892040"/>
            <a:ext cx="1691640" cy="548640"/>
          </a:xfrm>
          <a:prstGeom prst="roundRect">
            <a:avLst/>
          </a:prstGeom>
          <a:solidFill>
            <a:srgbClr val="24243C"/>
          </a:solidFill>
          <a:ln w="12700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00BCEB"/>
                </a:solidFill>
                <a:latin typeface="Calibri"/>
              </a:rPr>
              <a:t>Connect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20259" y="5065776"/>
            <a:ext cx="356616" cy="201168"/>
          </a:xfrm>
          <a:prstGeom prst="right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50027" y="4892040"/>
            <a:ext cx="1691640" cy="548640"/>
          </a:xfrm>
          <a:prstGeom prst="roundRect">
            <a:avLst/>
          </a:prstGeom>
          <a:solidFill>
            <a:srgbClr val="24243C"/>
          </a:solidFill>
          <a:ln w="12700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00BCEB"/>
                </a:solidFill>
                <a:latin typeface="Calibri"/>
              </a:rPr>
              <a:t>Secure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14819" y="5065776"/>
            <a:ext cx="356616" cy="201168"/>
          </a:xfrm>
          <a:prstGeom prst="right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44587" y="4892040"/>
            <a:ext cx="1691640" cy="548640"/>
          </a:xfrm>
          <a:prstGeom prst="roundRect">
            <a:avLst/>
          </a:prstGeom>
          <a:solidFill>
            <a:srgbClr val="24243C"/>
          </a:solidFill>
          <a:ln w="12700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00BCEB"/>
                </a:solidFill>
                <a:latin typeface="Calibri"/>
              </a:rPr>
              <a:t>Understand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09379" y="5065776"/>
            <a:ext cx="356616" cy="201168"/>
          </a:xfrm>
          <a:prstGeom prst="right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39147" y="4892040"/>
            <a:ext cx="1691640" cy="548640"/>
          </a:xfrm>
          <a:prstGeom prst="roundRect">
            <a:avLst/>
          </a:prstGeom>
          <a:solidFill>
            <a:srgbClr val="24243C"/>
          </a:solidFill>
          <a:ln w="12700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00BCEB"/>
                </a:solidFill>
                <a:latin typeface="Calibri"/>
              </a:rPr>
              <a:t>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Illustrative business case — figures are parameterized placeholders.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We own the most complete portfolio — and still sell it in silos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Four Cisco conversations, not one outcome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Speeds-and-feeds, not funded outcomes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Splunk + Cisco attach under-realized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SIs own the 'architecture of the deal'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Inaction: nine-figure pipeline, forgone yearly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59" y="2651760"/>
            <a:ext cx="2034540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Networking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5419" y="2651760"/>
            <a:ext cx="2034540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Security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59" y="3401568"/>
            <a:ext cx="2034540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Observability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5419" y="3401568"/>
            <a:ext cx="2034540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SecOps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09659" y="3995928"/>
            <a:ext cx="457200" cy="384048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00" b="1">
                <a:solidFill>
                  <a:srgbClr val="101014"/>
                </a:solidFill>
                <a:latin typeface="Calibr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59" y="4498848"/>
            <a:ext cx="4343400" cy="73152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101014"/>
                </a:solidFill>
                <a:latin typeface="Calibri"/>
              </a:rPr>
              <a:t>One integrated outcome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The post-Splunk window is open — and closing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One vendor, edge to SOC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Integrations live and shipping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Consolidation → a C-suite frame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AI build-outs pull it all forward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478024"/>
            <a:ext cx="4617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9AA3B2"/>
                </a:solidFill>
                <a:latin typeface="Calibri"/>
              </a:rPr>
              <a:t>THE POST-SPLUNK WINDOW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0" y="3429000"/>
            <a:ext cx="1154430" cy="640080"/>
          </a:xfrm>
          <a:prstGeom prst="rect">
            <a:avLst/>
          </a:prstGeom>
          <a:solidFill>
            <a:srgbClr val="24243C"/>
          </a:solidFill>
          <a:ln w="9525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0">
                <a:solidFill>
                  <a:srgbClr val="9AA3B2"/>
                </a:solidFill>
                <a:latin typeface="Calibri"/>
              </a:rPr>
              <a:t>Splunk close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83829" y="3429000"/>
            <a:ext cx="2308860" cy="640080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OPEN WINDOW — NOW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92690" y="3429000"/>
            <a:ext cx="1154430" cy="640080"/>
          </a:xfrm>
          <a:prstGeom prst="rect">
            <a:avLst/>
          </a:prstGeom>
          <a:solidFill>
            <a:srgbClr val="24243C"/>
          </a:solidFill>
          <a:ln w="9525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0">
                <a:solidFill>
                  <a:srgbClr val="9AA3B2"/>
                </a:solidFill>
                <a:latin typeface="Calibri"/>
              </a:rPr>
              <a:t>Commoditized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9540" y="2679192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0BCEB"/>
                </a:solidFill>
                <a:latin typeface="Calibri"/>
              </a:rPr>
              <a:t>First-mover advantage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801100" y="3026664"/>
            <a:ext cx="274320" cy="365760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215384"/>
            <a:ext cx="4617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9AA3B2"/>
                </a:solidFill>
                <a:latin typeface="Calibri"/>
              </a:rPr>
              <a:t>FORCES PULLING IT 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4489704"/>
            <a:ext cx="1017269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Portfolio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29550" y="4489704"/>
            <a:ext cx="1017269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Integrations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9700" y="4489704"/>
            <a:ext cx="1017269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Consolidate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29850" y="4489704"/>
            <a:ext cx="1017269" cy="566928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AI build-outs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DIFFERENTIATOR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One vendor, edge to SOC — if someone tells it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Every arrow between pillars = a cross-sell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Others own one box; we own the arrows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Splunk + Cisco: top under-executed play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The story rivals can't match end-to-end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29400" y="2606039"/>
            <a:ext cx="4617720" cy="48646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Sense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791955" y="3110788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3330244"/>
            <a:ext cx="4617720" cy="48646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Connect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791955" y="3834993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29400" y="4054449"/>
            <a:ext cx="4617720" cy="48646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Secure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791955" y="4559198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29400" y="4778654"/>
            <a:ext cx="4617720" cy="48646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Understand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91955" y="5283403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29400" y="5502859"/>
            <a:ext cx="4617720" cy="48646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 thin, senior Field CTO seller group that leads across architectures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Owns the CxO outcome conversation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Architects across BUs; specialists close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Vertical-credible (NIS2/DORA/HIPAA)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Orchestrates — not another overlay 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8938259" y="2971799"/>
            <a:ext cx="0" cy="1325880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938259" y="3887960"/>
            <a:ext cx="1695810" cy="409719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938259" y="4297679"/>
            <a:ext cx="1048069" cy="1072660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7890191" y="4297679"/>
            <a:ext cx="1048068" cy="1072660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7242450" y="3887960"/>
            <a:ext cx="1695809" cy="409719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75319" y="2720339"/>
            <a:ext cx="1325880" cy="5029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CxO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71129" y="3636500"/>
            <a:ext cx="1325880" cy="5029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Networking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3388" y="5118879"/>
            <a:ext cx="1325880" cy="5029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Splunk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7251" y="5118879"/>
            <a:ext cx="1325880" cy="5029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79510" y="3636500"/>
            <a:ext cx="1325880" cy="5029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Account Exec</a:t>
            </a:r>
          </a:p>
        </p:txBody>
      </p:sp>
      <p:sp>
        <p:nvSpPr>
          <p:cNvPr id="20" name="Oval 19"/>
          <p:cNvSpPr/>
          <p:nvPr/>
        </p:nvSpPr>
        <p:spPr>
          <a:xfrm>
            <a:off x="8161019" y="3941063"/>
            <a:ext cx="1554480" cy="713232"/>
          </a:xfrm>
          <a:prstGeom prst="ellipse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01014"/>
                </a:solidFill>
                <a:latin typeface="Calibri"/>
              </a:rPr>
              <a:t>Field CTO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EXTENDING THE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Black Ops: an elite tiger team for the accounts nobody can crack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Marathon coverage + breakthrough mission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For stalled / SI-locked / narrow-window whales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~60–120 days → durable multi-year growth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Always hands the account back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Ethical; OT read-only guardrails hold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29400" y="2651760"/>
            <a:ext cx="4617720" cy="844295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0">
                <a:solidFill>
                  <a:srgbClr val="F2F4F8"/>
                </a:solidFill>
                <a:latin typeface="Calibri"/>
              </a:rPr>
              <a:t>Stalled / SI-locked whale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773667" y="3514344"/>
            <a:ext cx="329184" cy="265176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3806952"/>
            <a:ext cx="4617720" cy="844295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101014"/>
                </a:solidFill>
                <a:latin typeface="Calibri"/>
              </a:rPr>
              <a:t>BREAKTHROUGH · ~60–120 days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773667" y="4669535"/>
            <a:ext cx="329184" cy="265176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29400" y="4962143"/>
            <a:ext cx="4617720" cy="844295"/>
          </a:xfrm>
          <a:prstGeom prst="round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101014"/>
                </a:solidFill>
                <a:latin typeface="Calibri"/>
              </a:rPr>
              <a:t>Durable multi-year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6135623"/>
            <a:ext cx="4617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Always hands the account back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FOCUS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Three high-attach architectures, four high-pull verticals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3 anchor pillars + 1 adjacency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Chosen for cross-attach + regulatory pull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Joint Cisco + Splunk strength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The list is swappable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79" y="2496312"/>
            <a:ext cx="470915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9AA3B2"/>
                </a:solidFill>
                <a:latin typeface="Calibri"/>
              </a:rPr>
              <a:t>3 + 1 ARCHITECTURES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79" y="2788920"/>
            <a:ext cx="1040129" cy="64008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01014"/>
                </a:solidFill>
                <a:latin typeface="Calibri"/>
              </a:rPr>
              <a:t>Networking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06690" y="2788920"/>
            <a:ext cx="1040129" cy="64008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01014"/>
                </a:solidFill>
                <a:latin typeface="Calibri"/>
              </a:rPr>
              <a:t>Observe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9699" y="2788920"/>
            <a:ext cx="1040129" cy="64008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01014"/>
                </a:solidFill>
                <a:latin typeface="Calibri"/>
              </a:rPr>
              <a:t>SecOps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52709" y="2788920"/>
            <a:ext cx="1040129" cy="640080"/>
          </a:xfrm>
          <a:prstGeom prst="round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01014"/>
                </a:solidFill>
                <a:latin typeface="Calibri"/>
              </a:rPr>
              <a:t>+1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611879"/>
            <a:ext cx="470915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9AA3B2"/>
                </a:solidFill>
                <a:latin typeface="Calibri"/>
              </a:rPr>
              <a:t>4 VERTICALS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79" y="3904487"/>
            <a:ext cx="2240279" cy="64008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Transportation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3904487"/>
            <a:ext cx="2240279" cy="64008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Financial Svcs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79" y="4745736"/>
            <a:ext cx="2240279" cy="64008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Healthcare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4745736"/>
            <a:ext cx="2240279" cy="64008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Public Sector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MOTION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 repeatable lifecycle and a library of plays — not heroics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 repeatable, six-stage lifecycle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 library of packaged plays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Play = script + architecture + value + proof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Scales; survives key-person 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29400" y="2606039"/>
            <a:ext cx="4617720" cy="365759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Select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791955" y="2990087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3209544"/>
            <a:ext cx="4617720" cy="365759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Frame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791955" y="3593591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29400" y="3813048"/>
            <a:ext cx="4617720" cy="365759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Architect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791955" y="4197096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29400" y="4416552"/>
            <a:ext cx="4617720" cy="365759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Value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91955" y="4800600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29400" y="5020056"/>
            <a:ext cx="4617720" cy="365759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F2F4F8"/>
                </a:solidFill>
                <a:latin typeface="Calibri"/>
              </a:rPr>
              <a:t>Close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791955" y="5404104"/>
            <a:ext cx="292608" cy="192024"/>
          </a:xfrm>
          <a:prstGeom prst="downArrow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5623560"/>
            <a:ext cx="4617720" cy="365759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101014"/>
                </a:solidFill>
                <a:latin typeface="Calibri"/>
              </a:rPr>
              <a:t>Expand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WORKED EXAMPLE · AVIATION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Airport operator: Black Ops broke open a stalled 'smart airport' program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OT hub + NIS2 + a Terminal 4 build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SI about to lock — pod convened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Reframed as board-level resilience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One architecture across the stack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Won OT trust, then handed 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29400" y="5244083"/>
            <a:ext cx="4617720" cy="699515"/>
          </a:xfrm>
          <a:prstGeom prst="round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OT — read-only / passive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4379975"/>
            <a:ext cx="4617720" cy="699515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Secure Networking — segmentation + SD-WAN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3515868"/>
            <a:ext cx="4617720" cy="699515"/>
          </a:xfrm>
          <a:prstGeom prst="round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Observability — Splunk OT / ITSI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2651760"/>
            <a:ext cx="4617720" cy="699515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Resilience — Splunk ES + Cisco XDR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~$180M influenced pipeline, ~$60M bookings, payback &lt; 12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~$180M influenced pipeline (Yr 1)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~$60M bookings → ~$36M margin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Break-even ~$9M — about five deals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Profitable across every scenario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2441448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Net profit by scenario ($M, illustrative)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28509" y="4951827"/>
            <a:ext cx="723900" cy="443132"/>
          </a:xfrm>
          <a:prstGeom prst="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5629" y="4640931"/>
            <a:ext cx="10896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2F4F8"/>
                </a:solidFill>
                <a:latin typeface="Calibri"/>
              </a:rPr>
              <a:t>$9M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9909" y="5440679"/>
            <a:ext cx="118109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Conserv.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76310" y="3868615"/>
            <a:ext cx="723900" cy="152634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3430" y="3557719"/>
            <a:ext cx="10896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2F4F8"/>
                </a:solidFill>
                <a:latin typeface="Calibri"/>
              </a:rPr>
              <a:t>$31M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7710" y="5440679"/>
            <a:ext cx="118109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24110" y="3130061"/>
            <a:ext cx="723900" cy="2264898"/>
          </a:xfrm>
          <a:prstGeom prst="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41230" y="2819165"/>
            <a:ext cx="10896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2F4F8"/>
                </a:solidFill>
                <a:latin typeface="Calibri"/>
              </a:rPr>
              <a:t>$46M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95510" y="5440679"/>
            <a:ext cx="118109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Upside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75120" y="5394959"/>
            <a:ext cx="4526279" cy="0"/>
          </a:xfrm>
          <a:prstGeom prst="line">
            <a:avLst/>
          </a:prstGeom>
          <a:ln w="12700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37959" y="5779007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>
                <a:solidFill>
                  <a:srgbClr val="9AA3B2"/>
                </a:solidFill>
                <a:latin typeface="Calibri"/>
              </a:rPr>
              <a:t>Break-even ≈ $9M bookings (~5 deals) — every scenario clears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Fund a 12-person, 4-quarter pilot (~$5.4M illustrative)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12 people, 4 quarters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Internal-first staffing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~40–60 accounts + paired controls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Q3 go/expand/stop gate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29400" y="2697479"/>
            <a:ext cx="2171700" cy="7315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8 × Field CTO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5420" y="2697479"/>
            <a:ext cx="2171700" cy="7315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1 × Group lead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3657600"/>
            <a:ext cx="2171700" cy="7315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2 × X-Arch architect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5420" y="3657600"/>
            <a:ext cx="2171700" cy="73152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1 × Deal desk / 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63440"/>
            <a:ext cx="4617720" cy="777240"/>
          </a:xfrm>
          <a:prstGeom prst="round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01014"/>
                </a:solidFill>
                <a:latin typeface="Calibri"/>
              </a:rPr>
              <a:t>~$5.4M / yr  ·  Q3 go/expand/stop gate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BOUNDED RISK +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 Q3 gate and control-account measurement make this low-risk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Q3 gate caps the downside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Control accounts prove the deltas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Talent / comp / attribution mitigated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Influence ledger prevents disputes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8069579" y="2743200"/>
            <a:ext cx="1737360" cy="1280160"/>
          </a:xfrm>
          <a:prstGeom prst="diamond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01014"/>
                </a:solidFill>
                <a:latin typeface="Calibri"/>
              </a:rPr>
              <a:t>Q3 GATE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7692390" y="3931920"/>
            <a:ext cx="925829" cy="411480"/>
          </a:xfrm>
          <a:prstGeom prst="line">
            <a:avLst/>
          </a:prstGeom>
          <a:ln w="15875">
            <a:solidFill>
              <a:srgbClr val="00A4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258299" y="3931920"/>
            <a:ext cx="925831" cy="411480"/>
          </a:xfrm>
          <a:prstGeom prst="line">
            <a:avLst/>
          </a:prstGeom>
          <a:ln w="15875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720840" y="4343400"/>
            <a:ext cx="1943100" cy="640080"/>
          </a:xfrm>
          <a:prstGeom prst="roundRect">
            <a:avLst/>
          </a:prstGeom>
          <a:solidFill>
            <a:srgbClr val="00A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101014"/>
                </a:solidFill>
                <a:latin typeface="Calibri"/>
              </a:rPr>
              <a:t>Continue / expand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12580" y="4343400"/>
            <a:ext cx="1943100" cy="64008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Stop — spend capped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212080"/>
            <a:ext cx="4434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A3B2"/>
                </a:solidFill>
                <a:latin typeface="Calibri"/>
              </a:rPr>
              <a:t>Proof: touched vs. control — attach · deal size · win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Approve the pilot; first executive framings within 90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Approve: 12 people, 4 quarters, Q3 gate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+30d: lead, charter, comp, metrics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+60d: cohort + accounts selected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+90d: first framings; enablement 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903720" y="4297679"/>
            <a:ext cx="4069080" cy="0"/>
          </a:xfrm>
          <a:prstGeom prst="line">
            <a:avLst/>
          </a:prstGeom>
          <a:ln w="25400">
            <a:solidFill>
              <a:srgbClr val="00BC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784848" y="4178807"/>
            <a:ext cx="237744" cy="237744"/>
          </a:xfrm>
          <a:prstGeom prst="ellipse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3566159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2F4F8"/>
                </a:solidFill>
                <a:latin typeface="Calibri"/>
              </a:rPr>
              <a:t>Approve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4498847"/>
            <a:ext cx="1645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Day 0</a:t>
            </a:r>
          </a:p>
        </p:txBody>
      </p:sp>
      <p:sp>
        <p:nvSpPr>
          <p:cNvPr id="14" name="Oval 13"/>
          <p:cNvSpPr/>
          <p:nvPr/>
        </p:nvSpPr>
        <p:spPr>
          <a:xfrm>
            <a:off x="8141207" y="4178807"/>
            <a:ext cx="237744" cy="237744"/>
          </a:xfrm>
          <a:prstGeom prst="ellipse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74280" y="3566159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2F4F8"/>
                </a:solidFill>
                <a:latin typeface="Calibri"/>
              </a:rPr>
              <a:t>+30d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37120" y="4498847"/>
            <a:ext cx="1645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Lead · charter · comp</a:t>
            </a:r>
          </a:p>
        </p:txBody>
      </p:sp>
      <p:sp>
        <p:nvSpPr>
          <p:cNvPr id="17" name="Oval 16"/>
          <p:cNvSpPr/>
          <p:nvPr/>
        </p:nvSpPr>
        <p:spPr>
          <a:xfrm>
            <a:off x="9497567" y="4178807"/>
            <a:ext cx="237744" cy="237744"/>
          </a:xfrm>
          <a:prstGeom prst="ellipse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30640" y="3566159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2F4F8"/>
                </a:solidFill>
                <a:latin typeface="Calibri"/>
              </a:rPr>
              <a:t>+60d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93479" y="4498847"/>
            <a:ext cx="1645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Cohort + accounts</a:t>
            </a:r>
          </a:p>
        </p:txBody>
      </p:sp>
      <p:sp>
        <p:nvSpPr>
          <p:cNvPr id="20" name="Oval 19"/>
          <p:cNvSpPr/>
          <p:nvPr/>
        </p:nvSpPr>
        <p:spPr>
          <a:xfrm>
            <a:off x="10853928" y="4178807"/>
            <a:ext cx="237744" cy="237744"/>
          </a:xfrm>
          <a:prstGeom prst="ellipse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7000" y="3566159"/>
            <a:ext cx="1371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2F4F8"/>
                </a:solidFill>
                <a:latin typeface="Calibri"/>
              </a:rPr>
              <a:t>+90d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4498847"/>
            <a:ext cx="1645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First framings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Illustrative figures — replace with actuals before presenting.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28016" cy="1234440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BCEB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2F4F8"/>
                </a:solidFill>
                <a:latin typeface="Calibri"/>
              </a:rPr>
              <a:t>Detail held in reserve for Q&amp;A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2475738" cy="77724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A1 · Role &amp; skills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1578" y="2834640"/>
            <a:ext cx="2475738" cy="77724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A2 · Org &amp; RACI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834640"/>
            <a:ext cx="2475738" cy="77724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A3 · Vertical kits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81694" y="2834640"/>
            <a:ext cx="2475738" cy="77724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A4 · OT safety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2475738" cy="77724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A5 · P&amp;L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1578" y="3931920"/>
            <a:ext cx="2475738" cy="77724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A6 · Comp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3931920"/>
            <a:ext cx="2475738" cy="77724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A7 · Competitive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1694" y="3931920"/>
            <a:ext cx="2475738" cy="777240"/>
          </a:xfrm>
          <a:prstGeom prst="roundRect">
            <a:avLst/>
          </a:prstGeom>
          <a:solidFill>
            <a:srgbClr val="24243C"/>
          </a:solidFill>
          <a:ln w="9525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A8 · Risk register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Role, competencies, and skills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4 pillars: business, X-arch, exec presence, orchestration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Deep in ≥2 pillars; conversant in all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Deep in one vertical; team covers four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61019" y="2834639"/>
            <a:ext cx="1554480" cy="1280160"/>
          </a:xfrm>
          <a:prstGeom prst="roundRect">
            <a:avLst/>
          </a:prstGeom>
          <a:solidFill>
            <a:srgbClr val="24243C"/>
          </a:solidFill>
          <a:ln w="15875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4000" b="1">
                <a:solidFill>
                  <a:srgbClr val="00BCEB"/>
                </a:solidFill>
                <a:latin typeface="Calibri"/>
              </a:rPr>
              <a:t>A1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343400"/>
            <a:ext cx="4617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9AA3B2"/>
                </a:solidFill>
                <a:latin typeface="Calibri"/>
              </a:rPr>
              <a:t>Reserve for Q&amp;A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9459" y="5074920"/>
            <a:ext cx="3657600" cy="566928"/>
          </a:xfrm>
          <a:prstGeom prst="roundRect">
            <a:avLst/>
          </a:prstGeom>
          <a:solidFill>
            <a:srgbClr val="1A1A2E"/>
          </a:solidFill>
          <a:ln w="9525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Source · 03 §1–3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Appendix — reserve for Q&amp;A. Illustrative figures.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Org placement and RACI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GTM-primary; dotted line to CTO/eng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Revenue-accountable AND BU-neutral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Field CTO owns frame; AE owns account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61019" y="2834639"/>
            <a:ext cx="1554480" cy="1280160"/>
          </a:xfrm>
          <a:prstGeom prst="roundRect">
            <a:avLst/>
          </a:prstGeom>
          <a:solidFill>
            <a:srgbClr val="24243C"/>
          </a:solidFill>
          <a:ln w="15875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4000" b="1">
                <a:solidFill>
                  <a:srgbClr val="00BCEB"/>
                </a:solidFill>
                <a:latin typeface="Calibri"/>
              </a:rPr>
              <a:t>A2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343400"/>
            <a:ext cx="4617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9AA3B2"/>
                </a:solidFill>
                <a:latin typeface="Calibri"/>
              </a:rPr>
              <a:t>Reserve for Q&amp;A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9459" y="5074920"/>
            <a:ext cx="3657600" cy="566928"/>
          </a:xfrm>
          <a:prstGeom prst="roundRect">
            <a:avLst/>
          </a:prstGeom>
          <a:solidFill>
            <a:srgbClr val="1A1A2E"/>
          </a:solidFill>
          <a:ln w="9525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Source · 03 §5, §8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Appendix — reserve for Q&amp;A. Illustrative figures.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Per-vertical field engagement kits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Buyers, discovery, hypotheses, objections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One kit per vertical (x4)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Strategy → field-ready playbook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61019" y="2834639"/>
            <a:ext cx="1554480" cy="1280160"/>
          </a:xfrm>
          <a:prstGeom prst="roundRect">
            <a:avLst/>
          </a:prstGeom>
          <a:solidFill>
            <a:srgbClr val="24243C"/>
          </a:solidFill>
          <a:ln w="15875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4000" b="1">
                <a:solidFill>
                  <a:srgbClr val="00BCEB"/>
                </a:solidFill>
                <a:latin typeface="Calibri"/>
              </a:rPr>
              <a:t>A3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343400"/>
            <a:ext cx="4617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9AA3B2"/>
                </a:solidFill>
                <a:latin typeface="Calibri"/>
              </a:rPr>
              <a:t>Reserve for Q&amp;A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9459" y="5074920"/>
            <a:ext cx="3657600" cy="566928"/>
          </a:xfrm>
          <a:prstGeom prst="roundRect">
            <a:avLst/>
          </a:prstGeom>
          <a:solidFill>
            <a:srgbClr val="1A1A2E"/>
          </a:solidFill>
          <a:ln w="9525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Source · 04 §1–4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Appendix — reserve for Q&amp;A. Illustrative figures.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OT safety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Read-only / passive acquisition only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Never write to PLC/HMI/DCS/RTU/SIS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Guardrail AND trust-winning differentiator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61019" y="2834639"/>
            <a:ext cx="1554480" cy="1280160"/>
          </a:xfrm>
          <a:prstGeom prst="roundRect">
            <a:avLst/>
          </a:prstGeom>
          <a:solidFill>
            <a:srgbClr val="24243C"/>
          </a:solidFill>
          <a:ln w="15875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4000" b="1">
                <a:solidFill>
                  <a:srgbClr val="00BCEB"/>
                </a:solidFill>
                <a:latin typeface="Calibri"/>
              </a:rPr>
              <a:t>A4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343400"/>
            <a:ext cx="4617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9AA3B2"/>
                </a:solidFill>
                <a:latin typeface="Calibri"/>
              </a:rPr>
              <a:t>Reserve for Q&amp;A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9459" y="5074920"/>
            <a:ext cx="3657600" cy="566928"/>
          </a:xfrm>
          <a:prstGeom prst="roundRect">
            <a:avLst/>
          </a:prstGeom>
          <a:solidFill>
            <a:srgbClr val="1A1A2E"/>
          </a:solidFill>
          <a:ln w="9525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Source · 04 OT 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Appendix — reserve for Q&amp;A. Illustrative figures.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Assumptions register and 3-year P&amp;L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Every input (A1–A13) editable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3-year scale path; improving ROI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Structure holds; only inputs change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61019" y="2834639"/>
            <a:ext cx="1554480" cy="1280160"/>
          </a:xfrm>
          <a:prstGeom prst="roundRect">
            <a:avLst/>
          </a:prstGeom>
          <a:solidFill>
            <a:srgbClr val="24243C"/>
          </a:solidFill>
          <a:ln w="15875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4000" b="1">
                <a:solidFill>
                  <a:srgbClr val="00BCEB"/>
                </a:solidFill>
                <a:latin typeface="Calibri"/>
              </a:rPr>
              <a:t>A5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343400"/>
            <a:ext cx="4617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9AA3B2"/>
                </a:solidFill>
                <a:latin typeface="Calibri"/>
              </a:rPr>
              <a:t>Reserve for Q&amp;A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9459" y="5074920"/>
            <a:ext cx="3657600" cy="566928"/>
          </a:xfrm>
          <a:prstGeom prst="roundRect">
            <a:avLst/>
          </a:prstGeom>
          <a:solidFill>
            <a:srgbClr val="1A1A2E"/>
          </a:solidFill>
          <a:ln w="9525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Source · 06 §0, §4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Appendix — reserve for Q&amp;A. Illustrative figures.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Compensation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Influence credit is additive — BUs keep 100%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50% bookings / 20% attach / 15% leading / 15% MBO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Deal desk arbitrates via the ledger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61019" y="2834639"/>
            <a:ext cx="1554480" cy="1280160"/>
          </a:xfrm>
          <a:prstGeom prst="roundRect">
            <a:avLst/>
          </a:prstGeom>
          <a:solidFill>
            <a:srgbClr val="24243C"/>
          </a:solidFill>
          <a:ln w="15875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4000" b="1">
                <a:solidFill>
                  <a:srgbClr val="00BCEB"/>
                </a:solidFill>
                <a:latin typeface="Calibri"/>
              </a:rPr>
              <a:t>A6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343400"/>
            <a:ext cx="4617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9AA3B2"/>
                </a:solidFill>
                <a:latin typeface="Calibri"/>
              </a:rPr>
              <a:t>Reserve for Q&amp;A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9459" y="5074920"/>
            <a:ext cx="3657600" cy="566928"/>
          </a:xfrm>
          <a:prstGeom prst="roundRect">
            <a:avLst/>
          </a:prstGeom>
          <a:solidFill>
            <a:srgbClr val="1A1A2E"/>
          </a:solidFill>
          <a:ln w="9525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Source · 05 §6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Appendix — reserve for Q&amp;A. Illustrative figures.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Competitive framing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Point vendors, SIEM, SIs, hyperscalers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SI dynamic is the biggest structural risk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Whoever frames the architecture wins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61019" y="2834639"/>
            <a:ext cx="1554480" cy="1280160"/>
          </a:xfrm>
          <a:prstGeom prst="roundRect">
            <a:avLst/>
          </a:prstGeom>
          <a:solidFill>
            <a:srgbClr val="24243C"/>
          </a:solidFill>
          <a:ln w="15875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4000" b="1">
                <a:solidFill>
                  <a:srgbClr val="00BCEB"/>
                </a:solidFill>
                <a:latin typeface="Calibri"/>
              </a:rPr>
              <a:t>A7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343400"/>
            <a:ext cx="4617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9AA3B2"/>
                </a:solidFill>
                <a:latin typeface="Calibri"/>
              </a:rPr>
              <a:t>Reserve for Q&amp;A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9459" y="5074920"/>
            <a:ext cx="3657600" cy="566928"/>
          </a:xfrm>
          <a:prstGeom prst="roundRect">
            <a:avLst/>
          </a:prstGeom>
          <a:solidFill>
            <a:srgbClr val="1A1A2E"/>
          </a:solidFill>
          <a:ln w="9525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Source · 02 §7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Appendix — reserve for Q&amp;A. Illustrative figures.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APPENDIX · A8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1280160" cy="50292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2F4F8"/>
                </a:solidFill>
                <a:latin typeface="Calibri"/>
              </a:rPr>
              <a:t>Full risk register + early warnings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11091672" cy="12801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548640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42032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12 risks: likelihood, impact, mitigation, owner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Leading signals with action triggers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0BCEB"/>
                </a:solidFill>
                <a:latin typeface="Calibri"/>
              </a:rPr>
              <a:t>•  </a:t>
            </a:r>
            <a:r>
              <a:rPr sz="1600" b="0">
                <a:solidFill>
                  <a:srgbClr val="F2F4F8"/>
                </a:solidFill>
                <a:latin typeface="Calibri"/>
              </a:rPr>
              <a:t>Bounded downside via the Q3 gate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331720"/>
            <a:ext cx="5349240" cy="3931920"/>
          </a:xfrm>
          <a:prstGeom prst="rect">
            <a:avLst/>
          </a:prstGeom>
          <a:solidFill>
            <a:srgbClr val="1A1A2E"/>
          </a:solidFill>
          <a:ln w="12700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61019" y="2834639"/>
            <a:ext cx="1554480" cy="1280160"/>
          </a:xfrm>
          <a:prstGeom prst="roundRect">
            <a:avLst/>
          </a:prstGeom>
          <a:solidFill>
            <a:srgbClr val="24243C"/>
          </a:solidFill>
          <a:ln w="15875">
            <a:solidFill>
              <a:srgbClr val="00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4000" b="1">
                <a:solidFill>
                  <a:srgbClr val="00BCEB"/>
                </a:solidFill>
                <a:latin typeface="Calibri"/>
              </a:rPr>
              <a:t>A8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343400"/>
            <a:ext cx="4617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9AA3B2"/>
                </a:solidFill>
                <a:latin typeface="Calibri"/>
              </a:rPr>
              <a:t>Reserve for Q&amp;A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9459" y="5074920"/>
            <a:ext cx="3657600" cy="566928"/>
          </a:xfrm>
          <a:prstGeom prst="roundRect">
            <a:avLst/>
          </a:prstGeom>
          <a:solidFill>
            <a:srgbClr val="1A1A2E"/>
          </a:solidFill>
          <a:ln w="9525">
            <a:solidFill>
              <a:srgbClr val="2C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F2F4F8"/>
                </a:solidFill>
                <a:latin typeface="Calibri"/>
              </a:rPr>
              <a:t>Source · 07 §3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64224"/>
            <a:ext cx="11091672" cy="10972"/>
          </a:xfrm>
          <a:prstGeom prst="rect">
            <a:avLst/>
          </a:prstGeom>
          <a:solidFill>
            <a:srgbClr val="2C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28232"/>
            <a:ext cx="9692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1">
                <a:solidFill>
                  <a:srgbClr val="9AA3B2"/>
                </a:solidFill>
                <a:latin typeface="Calibri"/>
              </a:rPr>
              <a:t>FIELD CTO · X-ARCH SELLING</a:t>
            </a:r>
            <a:r>
              <a:rPr sz="900" b="0">
                <a:solidFill>
                  <a:srgbClr val="9AA3B2"/>
                </a:solidFill>
                <a:latin typeface="Calibri"/>
              </a:rPr>
              <a:t>      Appendix — reserve for Q&amp;A. Illustrative figures.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28232"/>
            <a:ext cx="1124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3B2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