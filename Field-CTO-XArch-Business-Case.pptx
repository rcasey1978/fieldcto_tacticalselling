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Opening: We now own the most complete portfolio in the market. This deck asks leadership to fund a small, senior team whose only job is to sell it as one integrated outcome. It's a bounded, high-leverage bet with a Q3 stop gate. Keep the room focused on the decision: fund the pilot.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core tension: portfolio completeness without a motion to sell it as one. Land the line: 'the customer experiences four Cisco conversations, not one.' This is why deals stay small and Splunk synergy is under-realized. Source: 01 §1.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Make inaction concrete and expensive. The number that matters is the GAP between the two paths, repeated across the strategic base. Emphasize this is recurring, not one-time. Source: 01 §1 (cost-of-inaction box).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Urgency without hype. The integrations are real and fresh; consolidation and AI builds are creating cross-architecture entry points right now. First mover on the motion compounds. Source: 01 §2.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story competitors can't match end-to-end. Walk the loop once, slowly, and point at the arrows: that's where the incremental value lives. Source: 02 §2.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Define the role crisply and pre-empt the 'another overlay team' objection: this is leverage that makes existing teams MORE productive. Thin, senior, orchestration-first. Source: 01 §3; 03 §1.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port-operator vignette makes the abstract concrete. Contrast the two paths visually. The punchline: the customer co-authors the architecture, so Cisco is the partner, not one of several suppliers. Source: 01 §3 vignette.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deliberately don't boil the ocean. Three anchor pillars with the clearest boardroom narrative, plus AI-ready infra as an adjacency. Collaboration and pure compute are attach, not lead. Source: 02 §4.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Chosen on three criteria: high cross-attach, strong regulatory/resilience pull, and joint Cisco+Splunk strength. The list is swappable without changing the operating design. Source: 02 §5; 04 master matrix.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this is systematized, not dependent on a few heroes. The play library codifies the knowledge so the motion scales and survives key-person risk. Source: 05 §1–2.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money slide. Anchor on break-even: ~$9M bookings (about five deals) covers the entire $5.4M cost; everything above is upside. Reinforce these are illustrative and parameterized. Source: 01 §6; 06 §2–3.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State the ask plainly and immediately bound the downside: small, senior team; defined spend; a real stop gate at Q3. Ask for the decision. Source: 01 §5; 06 §1.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De-risk the financials. The three scenarios all clear break-even; the difference is how fast we scale, not whether it pays back. Source: 06 §5.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Address the skeptic. We measure with control accounts, so influence is proven not asserted; and we can stop at Q3 if the deltas aren't there. Source: 07 §1–3; 05 §7.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with a clear call to action and a concrete near-term timeline so approval feels actionable, not open-ended. Restate: bounded downside, differentiated upside. Ask for the yes. Source: 01 §9; README one-screen summary.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 these only if the room asks. Don't present them by default.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Detail for HR/org-design questions. Source: 03 §1–3.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 'where does it sit / who owns what' questions. Source: 03 §5, §8.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 'how do we actually sell this' questions. Source: 04 §1–4.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 OT/operations stakeholders. Source: 04 OT safety boundary.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 finance deep-dives. Source: 06 §0, §4.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 comp/quota questions. Source: 05 §6.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 competitive/positioning questions. Source: 02 §7.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 risk/governance questions. Source: 07 §3.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0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77440"/>
            <a:ext cx="12191695" cy="21031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1460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0BCEB"/>
                </a:solidFill>
                <a:latin typeface="Calibri"/>
              </a:rPr>
              <a:t>EXECUTIVE FUNDING DECISION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971800"/>
            <a:ext cx="10698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F2F4F8"/>
                </a:solidFill>
                <a:latin typeface="Calibri"/>
              </a:rPr>
              <a:t>Field CTO X-Arch Selling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88620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9AA3B2"/>
                </a:solidFill>
                <a:latin typeface="Calibri"/>
              </a:rPr>
              <a:t>Funding the motion that monetizes Cisco + Splunk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126480"/>
            <a:ext cx="10698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9AA3B2"/>
                </a:solidFill>
                <a:latin typeface="Calibri"/>
              </a:rPr>
              <a:t>Illustrative business case — figures are parameterized placeholders.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0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0BCEB"/>
                </a:solidFill>
                <a:latin typeface="Calibri"/>
              </a:rPr>
              <a:t>THE PROBLEM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868680"/>
            <a:ext cx="1280160" cy="50800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2F4F8"/>
                </a:solidFill>
                <a:latin typeface="Calibri"/>
              </a:rPr>
              <a:t>We own the most complete portfolio — and still sell it in silos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331720"/>
            <a:ext cx="11064240" cy="3931920"/>
          </a:xfrm>
          <a:prstGeom prst="rect">
            <a:avLst/>
          </a:prstGeom>
          <a:solidFill>
            <a:srgbClr val="1A1A2E"/>
          </a:solidFill>
          <a:ln w="12700">
            <a:solidFill>
              <a:srgbClr val="2C2C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560320"/>
            <a:ext cx="10332720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1">
                <a:solidFill>
                  <a:srgbClr val="00BCEB"/>
                </a:solidFill>
                <a:latin typeface="Calibri"/>
              </a:rPr>
              <a:t>•  </a:t>
            </a:r>
            <a:r>
              <a:rPr sz="1700" b="0">
                <a:solidFill>
                  <a:srgbClr val="F2F4F8"/>
                </a:solidFill>
                <a:latin typeface="Calibri"/>
              </a:rPr>
              <a:t>We sell in silos: four Cisco conversations, not one integrated outcome</a:t>
            </a:r>
          </a:p>
          <a:p>
            <a:pPr algn="l">
              <a:spcAft>
                <a:spcPts val="1000"/>
              </a:spcAft>
            </a:pPr>
            <a:r>
              <a:rPr sz="1700" b="1">
                <a:solidFill>
                  <a:srgbClr val="00BCEB"/>
                </a:solidFill>
                <a:latin typeface="Calibri"/>
              </a:rPr>
              <a:t>•  </a:t>
            </a:r>
            <a:r>
              <a:rPr sz="1700" b="0">
                <a:solidFill>
                  <a:srgbClr val="F2F4F8"/>
                </a:solidFill>
                <a:latin typeface="Calibri"/>
              </a:rPr>
              <a:t>We talk speeds-and-feeds, not the business outcomes buyers fund</a:t>
            </a:r>
          </a:p>
          <a:p>
            <a:pPr algn="l">
              <a:spcAft>
                <a:spcPts val="1000"/>
              </a:spcAft>
            </a:pPr>
            <a:r>
              <a:rPr sz="1700" b="1">
                <a:solidFill>
                  <a:srgbClr val="00BCEB"/>
                </a:solidFill>
                <a:latin typeface="Calibri"/>
              </a:rPr>
              <a:t>•  </a:t>
            </a:r>
            <a:r>
              <a:rPr sz="1700" b="0">
                <a:solidFill>
                  <a:srgbClr val="F2F4F8"/>
                </a:solidFill>
                <a:latin typeface="Calibri"/>
              </a:rPr>
              <a:t>Splunk cross-sell is under-attached to the Cisco install base (and vice versa)</a:t>
            </a:r>
          </a:p>
          <a:p>
            <a:pPr algn="l">
              <a:spcAft>
                <a:spcPts val="1000"/>
              </a:spcAft>
            </a:pPr>
            <a:r>
              <a:rPr sz="1700" b="1">
                <a:solidFill>
                  <a:srgbClr val="00BCEB"/>
                </a:solidFill>
                <a:latin typeface="Calibri"/>
              </a:rPr>
              <a:t>•  </a:t>
            </a:r>
            <a:r>
              <a:rPr sz="1700" b="0">
                <a:solidFill>
                  <a:srgbClr val="F2F4F8"/>
                </a:solidFill>
                <a:latin typeface="Calibri"/>
              </a:rPr>
              <a:t>We lose the 'architecture of the deal' — SIs and competitors own the frame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3B2"/>
                </a:solidFill>
                <a:latin typeface="Calibri"/>
              </a:rPr>
              <a:t>Illustrative figures — replace with actuals before presenting.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0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0BCEB"/>
                </a:solidFill>
                <a:latin typeface="Calibri"/>
              </a:rPr>
              <a:t>COST OF INACTION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868680"/>
            <a:ext cx="1280160" cy="50800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2F4F8"/>
                </a:solidFill>
                <a:latin typeface="Calibri"/>
              </a:rPr>
              <a:t>Siloed selling leaves nine figures of influenceable pipeline on the table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331720"/>
            <a:ext cx="11064240" cy="3931920"/>
          </a:xfrm>
          <a:prstGeom prst="rect">
            <a:avLst/>
          </a:prstGeom>
          <a:solidFill>
            <a:srgbClr val="1A1A2E"/>
          </a:solidFill>
          <a:ln w="12700">
            <a:solidFill>
              <a:srgbClr val="2C2C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560320"/>
            <a:ext cx="10332720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1">
                <a:solidFill>
                  <a:srgbClr val="00BCEB"/>
                </a:solidFill>
                <a:latin typeface="Calibri"/>
              </a:rPr>
              <a:t>•  </a:t>
            </a:r>
            <a:r>
              <a:rPr sz="1700" b="0">
                <a:solidFill>
                  <a:srgbClr val="F2F4F8"/>
                </a:solidFill>
                <a:latin typeface="Calibri"/>
              </a:rPr>
              <a:t>A ~$3M networking renewal stays flat; observability/SOC budget goes elsewhere</a:t>
            </a:r>
          </a:p>
          <a:p>
            <a:pPr algn="l">
              <a:spcAft>
                <a:spcPts val="1000"/>
              </a:spcAft>
            </a:pPr>
            <a:r>
              <a:rPr sz="1700" b="1">
                <a:solidFill>
                  <a:srgbClr val="00BCEB"/>
                </a:solidFill>
                <a:latin typeface="Calibri"/>
              </a:rPr>
              <a:t>•  </a:t>
            </a:r>
            <a:r>
              <a:rPr sz="1700" b="0">
                <a:solidFill>
                  <a:srgbClr val="F2F4F8"/>
                </a:solidFill>
                <a:latin typeface="Calibri"/>
              </a:rPr>
              <a:t>X-Arch reframe turns it into a ~$5–6M multi-year, multi-architecture relationship</a:t>
            </a:r>
          </a:p>
          <a:p>
            <a:pPr algn="l">
              <a:spcAft>
                <a:spcPts val="1000"/>
              </a:spcAft>
            </a:pPr>
            <a:r>
              <a:rPr sz="1700" b="1">
                <a:solidFill>
                  <a:srgbClr val="00BCEB"/>
                </a:solidFill>
                <a:latin typeface="Calibri"/>
              </a:rPr>
              <a:t>•  </a:t>
            </a:r>
            <a:r>
              <a:rPr sz="1700" b="0">
                <a:solidFill>
                  <a:srgbClr val="F2F4F8"/>
                </a:solidFill>
                <a:latin typeface="Calibri"/>
              </a:rPr>
              <a:t>Multiply the GAP across ~50 strategic accounts each year</a:t>
            </a:r>
          </a:p>
          <a:p>
            <a:pPr algn="l">
              <a:spcAft>
                <a:spcPts val="1000"/>
              </a:spcAft>
            </a:pPr>
            <a:r>
              <a:rPr sz="1700" b="1">
                <a:solidFill>
                  <a:srgbClr val="00BCEB"/>
                </a:solidFill>
                <a:latin typeface="Calibri"/>
              </a:rPr>
              <a:t>•  </a:t>
            </a:r>
            <a:r>
              <a:rPr sz="1700" b="0">
                <a:solidFill>
                  <a:srgbClr val="F2F4F8"/>
                </a:solidFill>
                <a:latin typeface="Calibri"/>
              </a:rPr>
              <a:t>'Do nothing' quietly cedes the largest, stickiest deals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3B2"/>
                </a:solidFill>
                <a:latin typeface="Calibri"/>
              </a:rPr>
              <a:t>Illustrative figures — replace with actuals before presenting.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0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0BCEB"/>
                </a:solidFill>
                <a:latin typeface="Calibri"/>
              </a:rPr>
              <a:t>WHY NOW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868680"/>
            <a:ext cx="1280160" cy="50800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2F4F8"/>
                </a:solidFill>
                <a:latin typeface="Calibri"/>
              </a:rPr>
              <a:t>The post-Splunk window is open — and closing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331720"/>
            <a:ext cx="11064240" cy="3931920"/>
          </a:xfrm>
          <a:prstGeom prst="rect">
            <a:avLst/>
          </a:prstGeom>
          <a:solidFill>
            <a:srgbClr val="1A1A2E"/>
          </a:solidFill>
          <a:ln w="12700">
            <a:solidFill>
              <a:srgbClr val="2C2C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560320"/>
            <a:ext cx="10332720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1">
                <a:solidFill>
                  <a:srgbClr val="00BCEB"/>
                </a:solidFill>
                <a:latin typeface="Calibri"/>
              </a:rPr>
              <a:t>•  </a:t>
            </a:r>
            <a:r>
              <a:rPr sz="1700" b="0">
                <a:solidFill>
                  <a:srgbClr val="F2F4F8"/>
                </a:solidFill>
                <a:latin typeface="Calibri"/>
              </a:rPr>
              <a:t>Portfolio completeness: one vendor from the edge to the SOC</a:t>
            </a:r>
          </a:p>
          <a:p>
            <a:pPr algn="l">
              <a:spcAft>
                <a:spcPts val="1000"/>
              </a:spcAft>
            </a:pPr>
            <a:r>
              <a:rPr sz="1700" b="1">
                <a:solidFill>
                  <a:srgbClr val="00BCEB"/>
                </a:solidFill>
                <a:latin typeface="Calibri"/>
              </a:rPr>
              <a:t>•  </a:t>
            </a:r>
            <a:r>
              <a:rPr sz="1700" b="0">
                <a:solidFill>
                  <a:srgbClr val="F2F4F8"/>
                </a:solidFill>
                <a:latin typeface="Calibri"/>
              </a:rPr>
              <a:t>Integration momentum: XDR+ES, ThousandEyes+AppD+Splunk, Cyber Vision+Splunk OT</a:t>
            </a:r>
          </a:p>
          <a:p>
            <a:pPr algn="l">
              <a:spcAft>
                <a:spcPts val="1000"/>
              </a:spcAft>
            </a:pPr>
            <a:r>
              <a:rPr sz="1700" b="1">
                <a:solidFill>
                  <a:srgbClr val="00BCEB"/>
                </a:solidFill>
                <a:latin typeface="Calibri"/>
              </a:rPr>
              <a:t>•  </a:t>
            </a:r>
            <a:r>
              <a:rPr sz="1700" b="0">
                <a:solidFill>
                  <a:srgbClr val="F2F4F8"/>
                </a:solidFill>
                <a:latin typeface="Calibri"/>
              </a:rPr>
              <a:t>Vendor consolidation: a C-suite, cross-architecture conversation</a:t>
            </a:r>
          </a:p>
          <a:p>
            <a:pPr algn="l">
              <a:spcAft>
                <a:spcPts val="1000"/>
              </a:spcAft>
            </a:pPr>
            <a:r>
              <a:rPr sz="1700" b="1">
                <a:solidFill>
                  <a:srgbClr val="00BCEB"/>
                </a:solidFill>
                <a:latin typeface="Calibri"/>
              </a:rPr>
              <a:t>•  </a:t>
            </a:r>
            <a:r>
              <a:rPr sz="1700" b="0">
                <a:solidFill>
                  <a:srgbClr val="F2F4F8"/>
                </a:solidFill>
                <a:latin typeface="Calibri"/>
              </a:rPr>
              <a:t>AI-infrastructure pull: builds drag networking, security, and data forward together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3B2"/>
                </a:solidFill>
                <a:latin typeface="Calibri"/>
              </a:rPr>
              <a:t>Illustrative figures — replace with actuals before presenting.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0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0BCEB"/>
                </a:solidFill>
                <a:latin typeface="Calibri"/>
              </a:rPr>
              <a:t>THE DIFFERENTIATOR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868680"/>
            <a:ext cx="1280160" cy="50800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2F4F8"/>
                </a:solidFill>
                <a:latin typeface="Calibri"/>
              </a:rPr>
              <a:t>One vendor, edge to SOC — but only if someone tells it end-to-end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331720"/>
            <a:ext cx="11064240" cy="3931920"/>
          </a:xfrm>
          <a:prstGeom prst="rect">
            <a:avLst/>
          </a:prstGeom>
          <a:solidFill>
            <a:srgbClr val="1A1A2E"/>
          </a:solidFill>
          <a:ln w="12700">
            <a:solidFill>
              <a:srgbClr val="2C2C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560320"/>
            <a:ext cx="10332720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1">
                <a:solidFill>
                  <a:srgbClr val="00BCEB"/>
                </a:solidFill>
                <a:latin typeface="Calibri"/>
              </a:rPr>
              <a:t>•  </a:t>
            </a:r>
            <a:r>
              <a:rPr sz="1700" b="0">
                <a:solidFill>
                  <a:srgbClr val="F2F4F8"/>
                </a:solidFill>
                <a:latin typeface="Calibri"/>
              </a:rPr>
              <a:t>The loop: sense → connect → secure → understand → act</a:t>
            </a:r>
          </a:p>
          <a:p>
            <a:pPr algn="l">
              <a:spcAft>
                <a:spcPts val="1000"/>
              </a:spcAft>
            </a:pPr>
            <a:r>
              <a:rPr sz="1700" b="1">
                <a:solidFill>
                  <a:srgbClr val="00BCEB"/>
                </a:solidFill>
                <a:latin typeface="Calibri"/>
              </a:rPr>
              <a:t>•  </a:t>
            </a:r>
            <a:r>
              <a:rPr sz="1700" b="0">
                <a:solidFill>
                  <a:srgbClr val="F2F4F8"/>
                </a:solidFill>
                <a:latin typeface="Calibri"/>
              </a:rPr>
              <a:t>Every arrow between architectures is a cross-sell opportunity</a:t>
            </a:r>
          </a:p>
          <a:p>
            <a:pPr algn="l">
              <a:spcAft>
                <a:spcPts val="1000"/>
              </a:spcAft>
            </a:pPr>
            <a:r>
              <a:rPr sz="1700" b="1">
                <a:solidFill>
                  <a:srgbClr val="00BCEB"/>
                </a:solidFill>
                <a:latin typeface="Calibri"/>
              </a:rPr>
              <a:t>•  </a:t>
            </a:r>
            <a:r>
              <a:rPr sz="1700" b="0">
                <a:solidFill>
                  <a:srgbClr val="F2F4F8"/>
                </a:solidFill>
                <a:latin typeface="Calibri"/>
              </a:rPr>
              <a:t>Today most sellers own one box; the Field CTO owns the arrows</a:t>
            </a:r>
          </a:p>
          <a:p>
            <a:pPr algn="l">
              <a:spcAft>
                <a:spcPts val="1000"/>
              </a:spcAft>
            </a:pPr>
            <a:r>
              <a:rPr sz="1700" b="1">
                <a:solidFill>
                  <a:srgbClr val="00BCEB"/>
                </a:solidFill>
                <a:latin typeface="Calibri"/>
              </a:rPr>
              <a:t>•  </a:t>
            </a:r>
            <a:r>
              <a:rPr sz="1700" b="0">
                <a:solidFill>
                  <a:srgbClr val="F2F4F8"/>
                </a:solidFill>
                <a:latin typeface="Calibri"/>
              </a:rPr>
              <a:t>The bi-directional Splunk ↔ Cisco attach is the top under-executed play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3B2"/>
                </a:solidFill>
                <a:latin typeface="Calibri"/>
              </a:rPr>
              <a:t>Illustrative figures — replace with actuals before presenting.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0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0BCEB"/>
                </a:solidFill>
                <a:latin typeface="Calibri"/>
              </a:rPr>
              <a:t>THE SOLUTION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868680"/>
            <a:ext cx="1280160" cy="50800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2F4F8"/>
                </a:solidFill>
                <a:latin typeface="Calibri"/>
              </a:rPr>
              <a:t>A thin, senior Field CTO seller group that leads across architectures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331720"/>
            <a:ext cx="11064240" cy="3931920"/>
          </a:xfrm>
          <a:prstGeom prst="rect">
            <a:avLst/>
          </a:prstGeom>
          <a:solidFill>
            <a:srgbClr val="1A1A2E"/>
          </a:solidFill>
          <a:ln w="12700">
            <a:solidFill>
              <a:srgbClr val="2C2C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560320"/>
            <a:ext cx="10332720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1">
                <a:solidFill>
                  <a:srgbClr val="00BCEB"/>
                </a:solidFill>
                <a:latin typeface="Calibri"/>
              </a:rPr>
              <a:t>•  </a:t>
            </a:r>
            <a:r>
              <a:rPr sz="1700" b="0">
                <a:solidFill>
                  <a:srgbClr val="F2F4F8"/>
                </a:solidFill>
                <a:latin typeface="Calibri"/>
              </a:rPr>
              <a:t>Owns the CxO conversation in the customer's language (risk, resilience, cost)</a:t>
            </a:r>
          </a:p>
          <a:p>
            <a:pPr algn="l">
              <a:spcAft>
                <a:spcPts val="1000"/>
              </a:spcAft>
            </a:pPr>
            <a:r>
              <a:rPr sz="1700" b="1">
                <a:solidFill>
                  <a:srgbClr val="00BCEB"/>
                </a:solidFill>
                <a:latin typeface="Calibri"/>
              </a:rPr>
              <a:t>•  </a:t>
            </a:r>
            <a:r>
              <a:rPr sz="1700" b="0">
                <a:solidFill>
                  <a:srgbClr val="F2F4F8"/>
                </a:solidFill>
                <a:latin typeface="Calibri"/>
              </a:rPr>
              <a:t>Architects across BUs, then pulls specialists in to detail and close</a:t>
            </a:r>
          </a:p>
          <a:p>
            <a:pPr algn="l">
              <a:spcAft>
                <a:spcPts val="1000"/>
              </a:spcAft>
            </a:pPr>
            <a:r>
              <a:rPr sz="1700" b="1">
                <a:solidFill>
                  <a:srgbClr val="00BCEB"/>
                </a:solidFill>
                <a:latin typeface="Calibri"/>
              </a:rPr>
              <a:t>•  </a:t>
            </a:r>
            <a:r>
              <a:rPr sz="1700" b="0">
                <a:solidFill>
                  <a:srgbClr val="F2F4F8"/>
                </a:solidFill>
                <a:latin typeface="Calibri"/>
              </a:rPr>
              <a:t>Leads with vertical credibility (NIS2, DORA, HIPAA, NERC-CIP)</a:t>
            </a:r>
          </a:p>
          <a:p>
            <a:pPr algn="l">
              <a:spcAft>
                <a:spcPts val="1000"/>
              </a:spcAft>
            </a:pPr>
            <a:r>
              <a:rPr sz="1700" b="1">
                <a:solidFill>
                  <a:srgbClr val="00BCEB"/>
                </a:solidFill>
                <a:latin typeface="Calibri"/>
              </a:rPr>
              <a:t>•  </a:t>
            </a:r>
            <a:r>
              <a:rPr sz="1700" b="0">
                <a:solidFill>
                  <a:srgbClr val="F2F4F8"/>
                </a:solidFill>
                <a:latin typeface="Calibri"/>
              </a:rPr>
              <a:t>Orchestrates — doesn't hoard. NOT another product-overlay SE team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3B2"/>
                </a:solidFill>
                <a:latin typeface="Calibri"/>
              </a:rPr>
              <a:t>Illustrative figures — replace with actuals before presenting.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0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0BCEB"/>
                </a:solidFill>
                <a:latin typeface="Calibri"/>
              </a:rPr>
              <a:t>IN PRACTICE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868680"/>
            <a:ext cx="1280160" cy="50800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2F4F8"/>
                </a:solidFill>
                <a:latin typeface="Calibri"/>
              </a:rPr>
              <a:t>One frame, one architecture, one strategic relationship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331720"/>
            <a:ext cx="11064240" cy="3931920"/>
          </a:xfrm>
          <a:prstGeom prst="rect">
            <a:avLst/>
          </a:prstGeom>
          <a:solidFill>
            <a:srgbClr val="1A1A2E"/>
          </a:solidFill>
          <a:ln w="12700">
            <a:solidFill>
              <a:srgbClr val="2C2C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560320"/>
            <a:ext cx="10332720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1">
                <a:solidFill>
                  <a:srgbClr val="00BCEB"/>
                </a:solidFill>
                <a:latin typeface="Calibri"/>
              </a:rPr>
              <a:t>•  </a:t>
            </a:r>
            <a:r>
              <a:rPr sz="1700" b="0">
                <a:solidFill>
                  <a:srgbClr val="F2F4F8"/>
                </a:solidFill>
                <a:latin typeface="Calibri"/>
              </a:rPr>
              <a:t>Siloed: 3 sellers call on 3 managers about 3 disconnected deals</a:t>
            </a:r>
          </a:p>
          <a:p>
            <a:pPr algn="l">
              <a:spcAft>
                <a:spcPts val="1000"/>
              </a:spcAft>
            </a:pPr>
            <a:r>
              <a:rPr sz="1700" b="1">
                <a:solidFill>
                  <a:srgbClr val="00BCEB"/>
                </a:solidFill>
                <a:latin typeface="Calibri"/>
              </a:rPr>
              <a:t>•  </a:t>
            </a:r>
            <a:r>
              <a:rPr sz="1700" b="0">
                <a:solidFill>
                  <a:srgbClr val="F2F4F8"/>
                </a:solidFill>
                <a:latin typeface="Calibri"/>
              </a:rPr>
              <a:t>X-Arch: one CxO session framed as 'keep cargo moving under attack'</a:t>
            </a:r>
          </a:p>
          <a:p>
            <a:pPr algn="l">
              <a:spcAft>
                <a:spcPts val="1000"/>
              </a:spcAft>
            </a:pPr>
            <a:r>
              <a:rPr sz="1700" b="1">
                <a:solidFill>
                  <a:srgbClr val="00BCEB"/>
                </a:solidFill>
                <a:latin typeface="Calibri"/>
              </a:rPr>
              <a:t>•  </a:t>
            </a:r>
            <a:r>
              <a:rPr sz="1700" b="0">
                <a:solidFill>
                  <a:srgbClr val="F2F4F8"/>
                </a:solidFill>
                <a:latin typeface="Calibri"/>
              </a:rPr>
              <a:t>One reference architecture: passive OT + segmentation + SD-WAN + modern SOC</a:t>
            </a:r>
          </a:p>
          <a:p>
            <a:pPr algn="l">
              <a:spcAft>
                <a:spcPts val="1000"/>
              </a:spcAft>
            </a:pPr>
            <a:r>
              <a:rPr sz="1700" b="1">
                <a:solidFill>
                  <a:srgbClr val="00BCEB"/>
                </a:solidFill>
                <a:latin typeface="Calibri"/>
              </a:rPr>
              <a:t>•  </a:t>
            </a:r>
            <a:r>
              <a:rPr sz="1700" b="0">
                <a:solidFill>
                  <a:srgbClr val="F2F4F8"/>
                </a:solidFill>
                <a:latin typeface="Calibri"/>
              </a:rPr>
              <a:t>Result: a larger, multi-year program the customer co-authored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3B2"/>
                </a:solidFill>
                <a:latin typeface="Calibri"/>
              </a:rPr>
              <a:t>Illustrative figures — replace with actuals before presenting.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0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0BCEB"/>
                </a:solidFill>
                <a:latin typeface="Calibri"/>
              </a:rPr>
              <a:t>FOCUS · ARCHITECTURES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868680"/>
            <a:ext cx="1280160" cy="50800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2F4F8"/>
                </a:solidFill>
                <a:latin typeface="Calibri"/>
              </a:rPr>
              <a:t>We lead with the three highest-attach architectures, plus one adjacency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331720"/>
            <a:ext cx="11064240" cy="3931920"/>
          </a:xfrm>
          <a:prstGeom prst="rect">
            <a:avLst/>
          </a:prstGeom>
          <a:solidFill>
            <a:srgbClr val="1A1A2E"/>
          </a:solidFill>
          <a:ln w="12700">
            <a:solidFill>
              <a:srgbClr val="2C2C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560320"/>
            <a:ext cx="10332720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1">
                <a:solidFill>
                  <a:srgbClr val="00BCEB"/>
                </a:solidFill>
                <a:latin typeface="Calibri"/>
              </a:rPr>
              <a:t>•  </a:t>
            </a:r>
            <a:r>
              <a:rPr sz="1700" b="0">
                <a:solidFill>
                  <a:srgbClr val="F2F4F8"/>
                </a:solidFill>
                <a:latin typeface="Calibri"/>
              </a:rPr>
              <a:t>Secure Networking — Catalyst/Meraki/SD-WAN + Firewall/ISE/XDR/Duo</a:t>
            </a:r>
          </a:p>
          <a:p>
            <a:pPr algn="l">
              <a:spcAft>
                <a:spcPts val="1000"/>
              </a:spcAft>
            </a:pPr>
            <a:r>
              <a:rPr sz="1700" b="1">
                <a:solidFill>
                  <a:srgbClr val="00BCEB"/>
                </a:solidFill>
                <a:latin typeface="Calibri"/>
              </a:rPr>
              <a:t>•  </a:t>
            </a:r>
            <a:r>
              <a:rPr sz="1700" b="0">
                <a:solidFill>
                  <a:srgbClr val="F2F4F8"/>
                </a:solidFill>
                <a:latin typeface="Calibri"/>
              </a:rPr>
              <a:t>Full-Stack Observability &amp; Data — Splunk, ThousandEyes, AppDynamics</a:t>
            </a:r>
          </a:p>
          <a:p>
            <a:pPr algn="l">
              <a:spcAft>
                <a:spcPts val="1000"/>
              </a:spcAft>
            </a:pPr>
            <a:r>
              <a:rPr sz="1700" b="1">
                <a:solidFill>
                  <a:srgbClr val="00BCEB"/>
                </a:solidFill>
                <a:latin typeface="Calibri"/>
              </a:rPr>
              <a:t>•  </a:t>
            </a:r>
            <a:r>
              <a:rPr sz="1700" b="0">
                <a:solidFill>
                  <a:srgbClr val="F2F4F8"/>
                </a:solidFill>
                <a:latin typeface="Calibri"/>
              </a:rPr>
              <a:t>Resilience &amp; Security Operations — Splunk ES + XDR + SOAR</a:t>
            </a:r>
          </a:p>
          <a:p>
            <a:pPr algn="l">
              <a:spcAft>
                <a:spcPts val="1000"/>
              </a:spcAft>
            </a:pPr>
            <a:r>
              <a:rPr sz="1700" b="1">
                <a:solidFill>
                  <a:srgbClr val="00BCEB"/>
                </a:solidFill>
                <a:latin typeface="Calibri"/>
              </a:rPr>
              <a:t>•  </a:t>
            </a:r>
            <a:r>
              <a:rPr sz="1700" b="0">
                <a:solidFill>
                  <a:srgbClr val="F2F4F8"/>
                </a:solidFill>
                <a:latin typeface="Calibri"/>
              </a:rPr>
              <a:t>(+1) AI-Ready Infrastructure — UCS/Nexus/AI PODs as pull-through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3B2"/>
                </a:solidFill>
                <a:latin typeface="Calibri"/>
              </a:rPr>
              <a:t>Illustrative figures — replace with actuals before presenting.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0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0BCEB"/>
                </a:solidFill>
                <a:latin typeface="Calibri"/>
              </a:rPr>
              <a:t>FOCUS · VERTICALS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868680"/>
            <a:ext cx="1280160" cy="50800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2F4F8"/>
                </a:solidFill>
                <a:latin typeface="Calibri"/>
              </a:rPr>
              <a:t>Four verticals chosen for cross-attach and regulatory pull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331720"/>
            <a:ext cx="11064240" cy="3931920"/>
          </a:xfrm>
          <a:prstGeom prst="rect">
            <a:avLst/>
          </a:prstGeom>
          <a:solidFill>
            <a:srgbClr val="1A1A2E"/>
          </a:solidFill>
          <a:ln w="12700">
            <a:solidFill>
              <a:srgbClr val="2C2C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560320"/>
            <a:ext cx="10332720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1">
                <a:solidFill>
                  <a:srgbClr val="00BCEB"/>
                </a:solidFill>
                <a:latin typeface="Calibri"/>
              </a:rPr>
              <a:t>•  </a:t>
            </a:r>
            <a:r>
              <a:rPr sz="1700" b="0">
                <a:solidFill>
                  <a:srgbClr val="F2F4F8"/>
                </a:solidFill>
                <a:latin typeface="Calibri"/>
              </a:rPr>
              <a:t>Transportation &amp; Logistics — distributed sites, IoT, transport-OT (NIS2)</a:t>
            </a:r>
          </a:p>
          <a:p>
            <a:pPr algn="l">
              <a:spcAft>
                <a:spcPts val="1000"/>
              </a:spcAft>
            </a:pPr>
            <a:r>
              <a:rPr sz="1700" b="1">
                <a:solidFill>
                  <a:srgbClr val="00BCEB"/>
                </a:solidFill>
                <a:latin typeface="Calibri"/>
              </a:rPr>
              <a:t>•  </a:t>
            </a:r>
            <a:r>
              <a:rPr sz="1700" b="0">
                <a:solidFill>
                  <a:srgbClr val="F2F4F8"/>
                </a:solidFill>
                <a:latin typeface="Calibri"/>
              </a:rPr>
              <a:t>Financial Services — resilience (DORA), fraud, SecOps, observability</a:t>
            </a:r>
          </a:p>
          <a:p>
            <a:pPr algn="l">
              <a:spcAft>
                <a:spcPts val="1000"/>
              </a:spcAft>
            </a:pPr>
            <a:r>
              <a:rPr sz="1700" b="1">
                <a:solidFill>
                  <a:srgbClr val="00BCEB"/>
                </a:solidFill>
                <a:latin typeface="Calibri"/>
              </a:rPr>
              <a:t>•  </a:t>
            </a:r>
            <a:r>
              <a:rPr sz="1700" b="0">
                <a:solidFill>
                  <a:srgbClr val="F2F4F8"/>
                </a:solidFill>
                <a:latin typeface="Calibri"/>
              </a:rPr>
              <a:t>Healthcare — IoMT security, clinical-app observability, HIPAA</a:t>
            </a:r>
          </a:p>
          <a:p>
            <a:pPr algn="l">
              <a:spcAft>
                <a:spcPts val="1000"/>
              </a:spcAft>
            </a:pPr>
            <a:r>
              <a:rPr sz="1700" b="1">
                <a:solidFill>
                  <a:srgbClr val="00BCEB"/>
                </a:solidFill>
                <a:latin typeface="Calibri"/>
              </a:rPr>
              <a:t>•  </a:t>
            </a:r>
            <a:r>
              <a:rPr sz="1700" b="0">
                <a:solidFill>
                  <a:srgbClr val="F2F4F8"/>
                </a:solidFill>
                <a:latin typeface="Calibri"/>
              </a:rPr>
              <a:t>Public Sector / Critical Infrastructure — NERC-CIP/NIS2, SOC modernization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3B2"/>
                </a:solidFill>
                <a:latin typeface="Calibri"/>
              </a:rPr>
              <a:t>Illustrative figures — replace with actuals before presenting.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0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0BCEB"/>
                </a:solidFill>
                <a:latin typeface="Calibri"/>
              </a:rPr>
              <a:t>THE MOTION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868680"/>
            <a:ext cx="1280160" cy="50800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2F4F8"/>
                </a:solidFill>
                <a:latin typeface="Calibri"/>
              </a:rPr>
              <a:t>A repeatable lifecycle and a library of plays — not heroics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331720"/>
            <a:ext cx="11064240" cy="3931920"/>
          </a:xfrm>
          <a:prstGeom prst="rect">
            <a:avLst/>
          </a:prstGeom>
          <a:solidFill>
            <a:srgbClr val="1A1A2E"/>
          </a:solidFill>
          <a:ln w="12700">
            <a:solidFill>
              <a:srgbClr val="2C2C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560320"/>
            <a:ext cx="10332720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1">
                <a:solidFill>
                  <a:srgbClr val="00BCEB"/>
                </a:solidFill>
                <a:latin typeface="Calibri"/>
              </a:rPr>
              <a:t>•  </a:t>
            </a:r>
            <a:r>
              <a:rPr sz="1700" b="0">
                <a:solidFill>
                  <a:srgbClr val="F2F4F8"/>
                </a:solidFill>
                <a:latin typeface="Calibri"/>
              </a:rPr>
              <a:t>Select &amp; trigger → Executive framing → X-Arch architecture</a:t>
            </a:r>
          </a:p>
          <a:p>
            <a:pPr algn="l">
              <a:spcAft>
                <a:spcPts val="1000"/>
              </a:spcAft>
            </a:pPr>
            <a:r>
              <a:rPr sz="1700" b="1">
                <a:solidFill>
                  <a:srgbClr val="00BCEB"/>
                </a:solidFill>
                <a:latin typeface="Calibri"/>
              </a:rPr>
              <a:t>•  </a:t>
            </a:r>
            <a:r>
              <a:rPr sz="1700" b="0">
                <a:solidFill>
                  <a:srgbClr val="F2F4F8"/>
                </a:solidFill>
                <a:latin typeface="Calibri"/>
              </a:rPr>
              <a:t>→ Value case → Orchestrate &amp; close → Land &amp; expand</a:t>
            </a:r>
          </a:p>
          <a:p>
            <a:pPr algn="l">
              <a:spcAft>
                <a:spcPts val="1000"/>
              </a:spcAft>
            </a:pPr>
            <a:r>
              <a:rPr sz="1700" b="1">
                <a:solidFill>
                  <a:srgbClr val="00BCEB"/>
                </a:solidFill>
                <a:latin typeface="Calibri"/>
              </a:rPr>
              <a:t>•  </a:t>
            </a:r>
            <a:r>
              <a:rPr sz="1700" b="0">
                <a:solidFill>
                  <a:srgbClr val="F2F4F8"/>
                </a:solidFill>
                <a:latin typeface="Calibri"/>
              </a:rPr>
              <a:t>Plays: Splunk-attach-to-network, SOC modernization, full-stack DX, passive OT, consolidation TCO</a:t>
            </a:r>
          </a:p>
          <a:p>
            <a:pPr algn="l">
              <a:spcAft>
                <a:spcPts val="1000"/>
              </a:spcAft>
            </a:pPr>
            <a:r>
              <a:rPr sz="1700" b="1">
                <a:solidFill>
                  <a:srgbClr val="00BCEB"/>
                </a:solidFill>
                <a:latin typeface="Calibri"/>
              </a:rPr>
              <a:t>•  </a:t>
            </a:r>
            <a:r>
              <a:rPr sz="1700" b="0">
                <a:solidFill>
                  <a:srgbClr val="F2F4F8"/>
                </a:solidFill>
                <a:latin typeface="Calibri"/>
              </a:rPr>
              <a:t>Each play = discovery script + reference architecture + value case + proof points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3B2"/>
                </a:solidFill>
                <a:latin typeface="Calibri"/>
              </a:rPr>
              <a:t>Illustrative figures — replace with actuals before presenting.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0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0BCEB"/>
                </a:solidFill>
                <a:latin typeface="Calibri"/>
              </a:rPr>
              <a:t>THE RETURN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868680"/>
            <a:ext cx="1280160" cy="50800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2F4F8"/>
                </a:solidFill>
                <a:latin typeface="Calibri"/>
              </a:rPr>
              <a:t>~$180M influenced pipeline, ~$60M incremental bookings, payback &lt; 12 months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331720"/>
            <a:ext cx="11064240" cy="3931920"/>
          </a:xfrm>
          <a:prstGeom prst="rect">
            <a:avLst/>
          </a:prstGeom>
          <a:solidFill>
            <a:srgbClr val="1A1A2E"/>
          </a:solidFill>
          <a:ln w="12700">
            <a:solidFill>
              <a:srgbClr val="2C2C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560320"/>
            <a:ext cx="10332720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1">
                <a:solidFill>
                  <a:srgbClr val="00BCEB"/>
                </a:solidFill>
                <a:latin typeface="Calibri"/>
              </a:rPr>
              <a:t>•  </a:t>
            </a:r>
            <a:r>
              <a:rPr sz="1700" b="0">
                <a:solidFill>
                  <a:srgbClr val="F2F4F8"/>
                </a:solidFill>
                <a:latin typeface="Calibri"/>
              </a:rPr>
              <a:t>Year-1 targets (illustrative): $180M influenced pipeline</a:t>
            </a:r>
          </a:p>
          <a:p>
            <a:pPr algn="l">
              <a:spcAft>
                <a:spcPts val="1000"/>
              </a:spcAft>
            </a:pPr>
            <a:r>
              <a:rPr sz="1700" b="1">
                <a:solidFill>
                  <a:srgbClr val="00BCEB"/>
                </a:solidFill>
                <a:latin typeface="Calibri"/>
              </a:rPr>
              <a:t>•  </a:t>
            </a:r>
            <a:r>
              <a:rPr sz="1700" b="0">
                <a:solidFill>
                  <a:srgbClr val="F2F4F8"/>
                </a:solidFill>
                <a:latin typeface="Calibri"/>
              </a:rPr>
              <a:t>~$60M incremental/accelerated bookings → ~$36M incremental gross margin</a:t>
            </a:r>
          </a:p>
          <a:p>
            <a:pPr algn="l">
              <a:spcAft>
                <a:spcPts val="1000"/>
              </a:spcAft>
            </a:pPr>
            <a:r>
              <a:rPr sz="1700" b="1">
                <a:solidFill>
                  <a:srgbClr val="00BCEB"/>
                </a:solidFill>
                <a:latin typeface="Calibri"/>
              </a:rPr>
              <a:t>•  </a:t>
            </a:r>
            <a:r>
              <a:rPr sz="1700" b="0">
                <a:solidFill>
                  <a:srgbClr val="F2F4F8"/>
                </a:solidFill>
                <a:latin typeface="Calibri"/>
              </a:rPr>
              <a:t>Break-even at just ~$9M bookings — roughly FIVE deals cover the whole cost</a:t>
            </a:r>
          </a:p>
          <a:p>
            <a:pPr algn="l">
              <a:spcAft>
                <a:spcPts val="1000"/>
              </a:spcAft>
            </a:pPr>
            <a:r>
              <a:rPr sz="1700" b="1">
                <a:solidFill>
                  <a:srgbClr val="00BCEB"/>
                </a:solidFill>
                <a:latin typeface="Calibri"/>
              </a:rPr>
              <a:t>•  </a:t>
            </a:r>
            <a:r>
              <a:rPr sz="1700" b="0">
                <a:solidFill>
                  <a:srgbClr val="F2F4F8"/>
                </a:solidFill>
                <a:latin typeface="Calibri"/>
              </a:rPr>
              <a:t>Splunk cross-attach and deal-size uplift are the leading indicators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3B2"/>
                </a:solidFill>
                <a:latin typeface="Calibri"/>
              </a:rPr>
              <a:t>Illustrative figures — replace with actuals before presenting.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0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0BCEB"/>
                </a:solidFill>
                <a:latin typeface="Calibri"/>
              </a:rPr>
              <a:t>THE ASK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868680"/>
            <a:ext cx="1280160" cy="50800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2F4F8"/>
                </a:solidFill>
                <a:latin typeface="Calibri"/>
              </a:rPr>
              <a:t>Fund a 12-person, 4-quarter pilot (~$5.4M illustrative)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331720"/>
            <a:ext cx="11064240" cy="3931920"/>
          </a:xfrm>
          <a:prstGeom prst="rect">
            <a:avLst/>
          </a:prstGeom>
          <a:solidFill>
            <a:srgbClr val="1A1A2E"/>
          </a:solidFill>
          <a:ln w="12700">
            <a:solidFill>
              <a:srgbClr val="2C2C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560320"/>
            <a:ext cx="10332720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1">
                <a:solidFill>
                  <a:srgbClr val="00BCEB"/>
                </a:solidFill>
                <a:latin typeface="Calibri"/>
              </a:rPr>
              <a:t>•  </a:t>
            </a:r>
            <a:r>
              <a:rPr sz="1700" b="0">
                <a:solidFill>
                  <a:srgbClr val="F2F4F8"/>
                </a:solidFill>
                <a:latin typeface="Calibri"/>
              </a:rPr>
              <a:t>8 Field CTOs + 1 group lead + 2 X-Arch architects + 1 deal desk/ops</a:t>
            </a:r>
          </a:p>
          <a:p>
            <a:pPr algn="l">
              <a:spcAft>
                <a:spcPts val="1000"/>
              </a:spcAft>
            </a:pPr>
            <a:r>
              <a:rPr sz="1700" b="1">
                <a:solidFill>
                  <a:srgbClr val="00BCEB"/>
                </a:solidFill>
                <a:latin typeface="Calibri"/>
              </a:rPr>
              <a:t>•  </a:t>
            </a:r>
            <a:r>
              <a:rPr sz="1700" b="0">
                <a:solidFill>
                  <a:srgbClr val="F2F4F8"/>
                </a:solidFill>
                <a:latin typeface="Calibri"/>
              </a:rPr>
              <a:t>Fully-loaded ~$5.4M/yr including enablement, tooling, travel</a:t>
            </a:r>
          </a:p>
          <a:p>
            <a:pPr algn="l">
              <a:spcAft>
                <a:spcPts val="1000"/>
              </a:spcAft>
            </a:pPr>
            <a:r>
              <a:rPr sz="1700" b="1">
                <a:solidFill>
                  <a:srgbClr val="00BCEB"/>
                </a:solidFill>
                <a:latin typeface="Calibri"/>
              </a:rPr>
              <a:t>•  </a:t>
            </a:r>
            <a:r>
              <a:rPr sz="1700" b="0">
                <a:solidFill>
                  <a:srgbClr val="F2F4F8"/>
                </a:solidFill>
                <a:latin typeface="Calibri"/>
              </a:rPr>
              <a:t>Internal-first staffing; ~40–60 named accounts with paired controls</a:t>
            </a:r>
          </a:p>
          <a:p>
            <a:pPr algn="l">
              <a:spcAft>
                <a:spcPts val="1000"/>
              </a:spcAft>
            </a:pPr>
            <a:r>
              <a:rPr sz="1700" b="1">
                <a:solidFill>
                  <a:srgbClr val="00BCEB"/>
                </a:solidFill>
                <a:latin typeface="Calibri"/>
              </a:rPr>
              <a:t>•  </a:t>
            </a:r>
            <a:r>
              <a:rPr sz="1700" b="0">
                <a:solidFill>
                  <a:srgbClr val="F2F4F8"/>
                </a:solidFill>
                <a:latin typeface="Calibri"/>
              </a:rPr>
              <a:t>Q3 go/expand/stop gate tied to explicit success criteria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3B2"/>
                </a:solidFill>
                <a:latin typeface="Calibri"/>
              </a:rPr>
              <a:t>Illustrative figures — replace with actuals before presenting.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0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0BCEB"/>
                </a:solidFill>
                <a:latin typeface="Calibri"/>
              </a:rPr>
              <a:t>IT PAYS BACK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868680"/>
            <a:ext cx="1280160" cy="50800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2F4F8"/>
                </a:solidFill>
                <a:latin typeface="Calibri"/>
              </a:rPr>
              <a:t>Profitable from conservative to upside — the question is pace, not payback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331720"/>
            <a:ext cx="11064240" cy="3931920"/>
          </a:xfrm>
          <a:prstGeom prst="rect">
            <a:avLst/>
          </a:prstGeom>
          <a:solidFill>
            <a:srgbClr val="1A1A2E"/>
          </a:solidFill>
          <a:ln w="12700">
            <a:solidFill>
              <a:srgbClr val="2C2C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560320"/>
            <a:ext cx="10332720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1">
                <a:solidFill>
                  <a:srgbClr val="00BCEB"/>
                </a:solidFill>
                <a:latin typeface="Calibri"/>
              </a:rPr>
              <a:t>•  </a:t>
            </a:r>
            <a:r>
              <a:rPr sz="1700" b="0">
                <a:solidFill>
                  <a:srgbClr val="F2F4F8"/>
                </a:solidFill>
                <a:latin typeface="Calibri"/>
              </a:rPr>
              <a:t>Conservative ~$25M bookings → ~$9M net (continue, tune targeting)</a:t>
            </a:r>
          </a:p>
          <a:p>
            <a:pPr algn="l">
              <a:spcAft>
                <a:spcPts val="1000"/>
              </a:spcAft>
            </a:pPr>
            <a:r>
              <a:rPr sz="1700" b="1">
                <a:solidFill>
                  <a:srgbClr val="00BCEB"/>
                </a:solidFill>
                <a:latin typeface="Calibri"/>
              </a:rPr>
              <a:t>•  </a:t>
            </a:r>
            <a:r>
              <a:rPr sz="1700" b="0">
                <a:solidFill>
                  <a:srgbClr val="F2F4F8"/>
                </a:solidFill>
                <a:latin typeface="Calibri"/>
              </a:rPr>
              <a:t>Base (plan) ~$60M → ~$31M net (expand per 3-year path)</a:t>
            </a:r>
          </a:p>
          <a:p>
            <a:pPr algn="l">
              <a:spcAft>
                <a:spcPts val="1000"/>
              </a:spcAft>
            </a:pPr>
            <a:r>
              <a:rPr sz="1700" b="1">
                <a:solidFill>
                  <a:srgbClr val="00BCEB"/>
                </a:solidFill>
                <a:latin typeface="Calibri"/>
              </a:rPr>
              <a:t>•  </a:t>
            </a:r>
            <a:r>
              <a:rPr sz="1700" b="0">
                <a:solidFill>
                  <a:srgbClr val="F2F4F8"/>
                </a:solidFill>
                <a:latin typeface="Calibri"/>
              </a:rPr>
              <a:t>Upside ~$90M → ~$46M net (accelerate hiring)</a:t>
            </a:r>
          </a:p>
          <a:p>
            <a:pPr algn="l">
              <a:spcAft>
                <a:spcPts val="1000"/>
              </a:spcAft>
            </a:pPr>
            <a:r>
              <a:rPr sz="1700" b="1">
                <a:solidFill>
                  <a:srgbClr val="00BCEB"/>
                </a:solidFill>
                <a:latin typeface="Calibri"/>
              </a:rPr>
              <a:t>•  </a:t>
            </a:r>
            <a:r>
              <a:rPr sz="1700" b="0">
                <a:solidFill>
                  <a:srgbClr val="F2F4F8"/>
                </a:solidFill>
                <a:latin typeface="Calibri"/>
              </a:rPr>
              <a:t>Even $20M @ 50% margin returns +$4.6M net — profitable across the range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3B2"/>
                </a:solidFill>
                <a:latin typeface="Calibri"/>
              </a:rPr>
              <a:t>Illustrative figures — replace with actuals before presenting.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0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0BCEB"/>
                </a:solidFill>
                <a:latin typeface="Calibri"/>
              </a:rPr>
              <a:t>BOUNDED RISK + PROOF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868680"/>
            <a:ext cx="1280160" cy="50800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2F4F8"/>
                </a:solidFill>
                <a:latin typeface="Calibri"/>
              </a:rPr>
              <a:t>A Q3 gate and control-account measurement make this low-risk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331720"/>
            <a:ext cx="11064240" cy="3931920"/>
          </a:xfrm>
          <a:prstGeom prst="rect">
            <a:avLst/>
          </a:prstGeom>
          <a:solidFill>
            <a:srgbClr val="1A1A2E"/>
          </a:solidFill>
          <a:ln w="12700">
            <a:solidFill>
              <a:srgbClr val="2C2C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560320"/>
            <a:ext cx="10332720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1">
                <a:solidFill>
                  <a:srgbClr val="00BCEB"/>
                </a:solidFill>
                <a:latin typeface="Calibri"/>
              </a:rPr>
              <a:t>•  </a:t>
            </a:r>
            <a:r>
              <a:rPr sz="1700" b="0">
                <a:solidFill>
                  <a:srgbClr val="F2F4F8"/>
                </a:solidFill>
                <a:latin typeface="Calibri"/>
              </a:rPr>
              <a:t>Q3 go/expand/stop gate stops spend before it can turn negative</a:t>
            </a:r>
          </a:p>
          <a:p>
            <a:pPr algn="l">
              <a:spcAft>
                <a:spcPts val="1000"/>
              </a:spcAft>
            </a:pPr>
            <a:r>
              <a:rPr sz="1700" b="1">
                <a:solidFill>
                  <a:srgbClr val="00BCEB"/>
                </a:solidFill>
                <a:latin typeface="Calibri"/>
              </a:rPr>
              <a:t>•  </a:t>
            </a:r>
            <a:r>
              <a:rPr sz="1700" b="0">
                <a:solidFill>
                  <a:srgbClr val="F2F4F8"/>
                </a:solidFill>
                <a:latin typeface="Calibri"/>
              </a:rPr>
              <a:t>Proof by matched control accounts: attach, deal size, win rate deltas</a:t>
            </a:r>
          </a:p>
          <a:p>
            <a:pPr algn="l">
              <a:spcAft>
                <a:spcPts val="1000"/>
              </a:spcAft>
            </a:pPr>
            <a:r>
              <a:rPr sz="1700" b="1">
                <a:solidFill>
                  <a:srgbClr val="00BCEB"/>
                </a:solidFill>
                <a:latin typeface="Calibri"/>
              </a:rPr>
              <a:t>•  </a:t>
            </a:r>
            <a:r>
              <a:rPr sz="1700" b="0">
                <a:solidFill>
                  <a:srgbClr val="F2F4F8"/>
                </a:solidFill>
                <a:latin typeface="Calibri"/>
              </a:rPr>
              <a:t>Top risks (talent, comp friction, attribution) have concrete mitigations</a:t>
            </a:r>
          </a:p>
          <a:p>
            <a:pPr algn="l">
              <a:spcAft>
                <a:spcPts val="1000"/>
              </a:spcAft>
            </a:pPr>
            <a:r>
              <a:rPr sz="1700" b="1">
                <a:solidFill>
                  <a:srgbClr val="00BCEB"/>
                </a:solidFill>
                <a:latin typeface="Calibri"/>
              </a:rPr>
              <a:t>•  </a:t>
            </a:r>
            <a:r>
              <a:rPr sz="1700" b="0">
                <a:solidFill>
                  <a:srgbClr val="F2F4F8"/>
                </a:solidFill>
                <a:latin typeface="Calibri"/>
              </a:rPr>
              <a:t>Influence ledger prevents over-claiming and BU disputes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3B2"/>
                </a:solidFill>
                <a:latin typeface="Calibri"/>
              </a:rPr>
              <a:t>Illustrative figures — replace with actuals before presenting.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0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0BCEB"/>
                </a:solidFill>
                <a:latin typeface="Calibri"/>
              </a:rPr>
              <a:t>RECOMMENDATION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868680"/>
            <a:ext cx="1280160" cy="50800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2F4F8"/>
                </a:solidFill>
                <a:latin typeface="Calibri"/>
              </a:rPr>
              <a:t>Approve the pilot; first executive framings within 90 days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331720"/>
            <a:ext cx="11064240" cy="3931920"/>
          </a:xfrm>
          <a:prstGeom prst="rect">
            <a:avLst/>
          </a:prstGeom>
          <a:solidFill>
            <a:srgbClr val="1A1A2E"/>
          </a:solidFill>
          <a:ln w="12700">
            <a:solidFill>
              <a:srgbClr val="2C2C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560320"/>
            <a:ext cx="10332720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1">
                <a:solidFill>
                  <a:srgbClr val="00BCEB"/>
                </a:solidFill>
                <a:latin typeface="Calibri"/>
              </a:rPr>
              <a:t>•  </a:t>
            </a:r>
            <a:r>
              <a:rPr sz="1700" b="0">
                <a:solidFill>
                  <a:srgbClr val="F2F4F8"/>
                </a:solidFill>
                <a:latin typeface="Calibri"/>
              </a:rPr>
              <a:t>Approve the 12-person, 4-quarter funded pilot with a Q3 gate</a:t>
            </a:r>
          </a:p>
          <a:p>
            <a:pPr algn="l">
              <a:spcAft>
                <a:spcPts val="1000"/>
              </a:spcAft>
            </a:pPr>
            <a:r>
              <a:rPr sz="1700" b="1">
                <a:solidFill>
                  <a:srgbClr val="00BCEB"/>
                </a:solidFill>
                <a:latin typeface="Calibri"/>
              </a:rPr>
              <a:t>•  </a:t>
            </a:r>
            <a:r>
              <a:rPr sz="1700" b="0">
                <a:solidFill>
                  <a:srgbClr val="F2F4F8"/>
                </a:solidFill>
                <a:latin typeface="Calibri"/>
              </a:rPr>
              <a:t>+30d: group lead named; charter, comp, metrics baselined</a:t>
            </a:r>
          </a:p>
          <a:p>
            <a:pPr algn="l">
              <a:spcAft>
                <a:spcPts val="1000"/>
              </a:spcAft>
            </a:pPr>
            <a:r>
              <a:rPr sz="1700" b="1">
                <a:solidFill>
                  <a:srgbClr val="00BCEB"/>
                </a:solidFill>
                <a:latin typeface="Calibri"/>
              </a:rPr>
              <a:t>•  </a:t>
            </a:r>
            <a:r>
              <a:rPr sz="1700" b="0">
                <a:solidFill>
                  <a:srgbClr val="F2F4F8"/>
                </a:solidFill>
                <a:latin typeface="Calibri"/>
              </a:rPr>
              <a:t>+60d: cohort staffed (internal-first); accounts + controls selected</a:t>
            </a:r>
          </a:p>
          <a:p>
            <a:pPr algn="l">
              <a:spcAft>
                <a:spcPts val="1000"/>
              </a:spcAft>
            </a:pPr>
            <a:r>
              <a:rPr sz="1700" b="1">
                <a:solidFill>
                  <a:srgbClr val="00BCEB"/>
                </a:solidFill>
                <a:latin typeface="Calibri"/>
              </a:rPr>
              <a:t>•  </a:t>
            </a:r>
            <a:r>
              <a:rPr sz="1700" b="0">
                <a:solidFill>
                  <a:srgbClr val="F2F4F8"/>
                </a:solidFill>
                <a:latin typeface="Calibri"/>
              </a:rPr>
              <a:t>+90d: first X-Arch opportunities framed; enablement ramp underway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3B2"/>
                </a:solidFill>
                <a:latin typeface="Calibri"/>
              </a:rPr>
              <a:t>Illustrative figures — replace with actuals before presenting.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0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0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0BCEB"/>
                </a:solidFill>
                <a:latin typeface="Calibri"/>
              </a:rPr>
              <a:t>APPENDIX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2F4F8"/>
                </a:solidFill>
                <a:latin typeface="Calibri"/>
              </a:rPr>
              <a:t>Detail held in reserve for Q&amp;A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0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0BCEB"/>
                </a:solidFill>
                <a:latin typeface="Calibri"/>
              </a:rPr>
              <a:t>APPENDIX · A1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868680"/>
            <a:ext cx="1280160" cy="50800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2F4F8"/>
                </a:solidFill>
                <a:latin typeface="Calibri"/>
              </a:rPr>
              <a:t>Role, competencies, and skills matrix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331720"/>
            <a:ext cx="11064240" cy="3931920"/>
          </a:xfrm>
          <a:prstGeom prst="rect">
            <a:avLst/>
          </a:prstGeom>
          <a:solidFill>
            <a:srgbClr val="1A1A2E"/>
          </a:solidFill>
          <a:ln w="12700">
            <a:solidFill>
              <a:srgbClr val="2C2C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560320"/>
            <a:ext cx="10332720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1">
                <a:solidFill>
                  <a:srgbClr val="00BCEB"/>
                </a:solidFill>
                <a:latin typeface="Calibri"/>
              </a:rPr>
              <a:t>•  </a:t>
            </a:r>
            <a:r>
              <a:rPr sz="1700" b="0">
                <a:solidFill>
                  <a:srgbClr val="F2F4F8"/>
                </a:solidFill>
                <a:latin typeface="Calibri"/>
              </a:rPr>
              <a:t>Four competency pillars: business fluency, X-arch depth, exec presence, orchestration</a:t>
            </a:r>
          </a:p>
          <a:p>
            <a:pPr algn="l">
              <a:spcAft>
                <a:spcPts val="1000"/>
              </a:spcAft>
            </a:pPr>
            <a:r>
              <a:rPr sz="1700" b="1">
                <a:solidFill>
                  <a:srgbClr val="00BCEB"/>
                </a:solidFill>
                <a:latin typeface="Calibri"/>
              </a:rPr>
              <a:t>•  </a:t>
            </a:r>
            <a:r>
              <a:rPr sz="1700" b="0">
                <a:solidFill>
                  <a:srgbClr val="F2F4F8"/>
                </a:solidFill>
                <a:latin typeface="Calibri"/>
              </a:rPr>
              <a:t>Proficiency targets per domain; deep in ≥2 pillars, conversant in all</a:t>
            </a:r>
          </a:p>
          <a:p>
            <a:pPr algn="l">
              <a:spcAft>
                <a:spcPts val="1000"/>
              </a:spcAft>
            </a:pPr>
            <a:r>
              <a:rPr sz="1700" b="1">
                <a:solidFill>
                  <a:srgbClr val="00BCEB"/>
                </a:solidFill>
                <a:latin typeface="Calibri"/>
              </a:rPr>
              <a:t>•  </a:t>
            </a:r>
            <a:r>
              <a:rPr sz="1700" b="0">
                <a:solidFill>
                  <a:srgbClr val="F2F4F8"/>
                </a:solidFill>
                <a:latin typeface="Calibri"/>
              </a:rPr>
              <a:t>Deep in one vertical; team covers all four at expert level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3B2"/>
                </a:solidFill>
                <a:latin typeface="Calibri"/>
              </a:rPr>
              <a:t>Appendix — reserve for Q&amp;A. Illustrative figures.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0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0BCEB"/>
                </a:solidFill>
                <a:latin typeface="Calibri"/>
              </a:rPr>
              <a:t>APPENDIX · A2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868680"/>
            <a:ext cx="1280160" cy="50800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2F4F8"/>
                </a:solidFill>
                <a:latin typeface="Calibri"/>
              </a:rPr>
              <a:t>Org placement and RACI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331720"/>
            <a:ext cx="11064240" cy="3931920"/>
          </a:xfrm>
          <a:prstGeom prst="rect">
            <a:avLst/>
          </a:prstGeom>
          <a:solidFill>
            <a:srgbClr val="1A1A2E"/>
          </a:solidFill>
          <a:ln w="12700">
            <a:solidFill>
              <a:srgbClr val="2C2C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560320"/>
            <a:ext cx="10332720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1">
                <a:solidFill>
                  <a:srgbClr val="00BCEB"/>
                </a:solidFill>
                <a:latin typeface="Calibri"/>
              </a:rPr>
              <a:t>•  </a:t>
            </a:r>
            <a:r>
              <a:rPr sz="1700" b="0">
                <a:solidFill>
                  <a:srgbClr val="F2F4F8"/>
                </a:solidFill>
                <a:latin typeface="Calibri"/>
              </a:rPr>
              <a:t>GTM-primary reporting with a strong dotted line to the CTO/engineering org</a:t>
            </a:r>
          </a:p>
          <a:p>
            <a:pPr algn="l">
              <a:spcAft>
                <a:spcPts val="1000"/>
              </a:spcAft>
            </a:pPr>
            <a:r>
              <a:rPr sz="1700" b="1">
                <a:solidFill>
                  <a:srgbClr val="00BCEB"/>
                </a:solidFill>
                <a:latin typeface="Calibri"/>
              </a:rPr>
              <a:t>•  </a:t>
            </a:r>
            <a:r>
              <a:rPr sz="1700" b="0">
                <a:solidFill>
                  <a:srgbClr val="F2F4F8"/>
                </a:solidFill>
                <a:latin typeface="Calibri"/>
              </a:rPr>
              <a:t>Keeps it revenue-accountable AND cross-BU neutral</a:t>
            </a:r>
          </a:p>
          <a:p>
            <a:pPr algn="l">
              <a:spcAft>
                <a:spcPts val="1000"/>
              </a:spcAft>
            </a:pPr>
            <a:r>
              <a:rPr sz="1700" b="1">
                <a:solidFill>
                  <a:srgbClr val="00BCEB"/>
                </a:solidFill>
                <a:latin typeface="Calibri"/>
              </a:rPr>
              <a:t>•  </a:t>
            </a:r>
            <a:r>
              <a:rPr sz="1700" b="0">
                <a:solidFill>
                  <a:srgbClr val="F2F4F8"/>
                </a:solidFill>
                <a:latin typeface="Calibri"/>
              </a:rPr>
              <a:t>RACI: Field CTO accountable for the frame; AE accountable for the account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3B2"/>
                </a:solidFill>
                <a:latin typeface="Calibri"/>
              </a:rPr>
              <a:t>Appendix — reserve for Q&amp;A. Illustrative figures.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0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0BCEB"/>
                </a:solidFill>
                <a:latin typeface="Calibri"/>
              </a:rPr>
              <a:t>APPENDIX · A3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868680"/>
            <a:ext cx="1280160" cy="50800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2F4F8"/>
                </a:solidFill>
                <a:latin typeface="Calibri"/>
              </a:rPr>
              <a:t>Per-vertical field engagement kits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331720"/>
            <a:ext cx="11064240" cy="3931920"/>
          </a:xfrm>
          <a:prstGeom prst="rect">
            <a:avLst/>
          </a:prstGeom>
          <a:solidFill>
            <a:srgbClr val="1A1A2E"/>
          </a:solidFill>
          <a:ln w="12700">
            <a:solidFill>
              <a:srgbClr val="2C2C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560320"/>
            <a:ext cx="10332720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1">
                <a:solidFill>
                  <a:srgbClr val="00BCEB"/>
                </a:solidFill>
                <a:latin typeface="Calibri"/>
              </a:rPr>
              <a:t>•  </a:t>
            </a:r>
            <a:r>
              <a:rPr sz="1700" b="0">
                <a:solidFill>
                  <a:srgbClr val="F2F4F8"/>
                </a:solidFill>
                <a:latin typeface="Calibri"/>
              </a:rPr>
              <a:t>Buyers, discovery questions, outcome hypotheses, objection handling</a:t>
            </a:r>
          </a:p>
          <a:p>
            <a:pPr algn="l">
              <a:spcAft>
                <a:spcPts val="1000"/>
              </a:spcAft>
            </a:pPr>
            <a:r>
              <a:rPr sz="1700" b="1">
                <a:solidFill>
                  <a:srgbClr val="00BCEB"/>
                </a:solidFill>
                <a:latin typeface="Calibri"/>
              </a:rPr>
              <a:t>•  </a:t>
            </a:r>
            <a:r>
              <a:rPr sz="1700" b="0">
                <a:solidFill>
                  <a:srgbClr val="F2F4F8"/>
                </a:solidFill>
                <a:latin typeface="Calibri"/>
              </a:rPr>
              <a:t>One kit per vertical: Transportation, FinServ, Healthcare, Public Sector</a:t>
            </a:r>
          </a:p>
          <a:p>
            <a:pPr algn="l">
              <a:spcAft>
                <a:spcPts val="1000"/>
              </a:spcAft>
            </a:pPr>
            <a:r>
              <a:rPr sz="1700" b="1">
                <a:solidFill>
                  <a:srgbClr val="00BCEB"/>
                </a:solidFill>
                <a:latin typeface="Calibri"/>
              </a:rPr>
              <a:t>•  </a:t>
            </a:r>
            <a:r>
              <a:rPr sz="1700" b="0">
                <a:solidFill>
                  <a:srgbClr val="F2F4F8"/>
                </a:solidFill>
                <a:latin typeface="Calibri"/>
              </a:rPr>
              <a:t>Turns the strategy into a field-ready playbook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3B2"/>
                </a:solidFill>
                <a:latin typeface="Calibri"/>
              </a:rPr>
              <a:t>Appendix — reserve for Q&amp;A. Illustrative figures.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0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0BCEB"/>
                </a:solidFill>
                <a:latin typeface="Calibri"/>
              </a:rPr>
              <a:t>APPENDIX · A4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868680"/>
            <a:ext cx="1280160" cy="50800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2F4F8"/>
                </a:solidFill>
                <a:latin typeface="Calibri"/>
              </a:rPr>
              <a:t>OT safety boundary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331720"/>
            <a:ext cx="11064240" cy="3931920"/>
          </a:xfrm>
          <a:prstGeom prst="rect">
            <a:avLst/>
          </a:prstGeom>
          <a:solidFill>
            <a:srgbClr val="1A1A2E"/>
          </a:solidFill>
          <a:ln w="12700">
            <a:solidFill>
              <a:srgbClr val="2C2C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560320"/>
            <a:ext cx="10332720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1">
                <a:solidFill>
                  <a:srgbClr val="00BCEB"/>
                </a:solidFill>
                <a:latin typeface="Calibri"/>
              </a:rPr>
              <a:t>•  </a:t>
            </a:r>
            <a:r>
              <a:rPr sz="1700" b="0">
                <a:solidFill>
                  <a:srgbClr val="F2F4F8"/>
                </a:solidFill>
                <a:latin typeface="Calibri"/>
              </a:rPr>
              <a:t>Read-only / passive acquisition for safety-related signals</a:t>
            </a:r>
          </a:p>
          <a:p>
            <a:pPr algn="l">
              <a:spcAft>
                <a:spcPts val="1000"/>
              </a:spcAft>
            </a:pPr>
            <a:r>
              <a:rPr sz="1700" b="1">
                <a:solidFill>
                  <a:srgbClr val="00BCEB"/>
                </a:solidFill>
                <a:latin typeface="Calibri"/>
              </a:rPr>
              <a:t>•  </a:t>
            </a:r>
            <a:r>
              <a:rPr sz="1700" b="0">
                <a:solidFill>
                  <a:srgbClr val="F2F4F8"/>
                </a:solidFill>
                <a:latin typeface="Calibri"/>
              </a:rPr>
              <a:t>Never write config to PLCs/HMIs/DCS/RTUs/SIS; human-in-the-loop response</a:t>
            </a:r>
          </a:p>
          <a:p>
            <a:pPr algn="l">
              <a:spcAft>
                <a:spcPts val="1000"/>
              </a:spcAft>
            </a:pPr>
            <a:r>
              <a:rPr sz="1700" b="1">
                <a:solidFill>
                  <a:srgbClr val="00BCEB"/>
                </a:solidFill>
                <a:latin typeface="Calibri"/>
              </a:rPr>
              <a:t>•  </a:t>
            </a:r>
            <a:r>
              <a:rPr sz="1700" b="0">
                <a:solidFill>
                  <a:srgbClr val="F2F4F8"/>
                </a:solidFill>
                <a:latin typeface="Calibri"/>
              </a:rPr>
              <a:t>A hard guardrail AND a competitive differentiator that earns OT trust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3B2"/>
                </a:solidFill>
                <a:latin typeface="Calibri"/>
              </a:rPr>
              <a:t>Appendix — reserve for Q&amp;A. Illustrative figures.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0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0BCEB"/>
                </a:solidFill>
                <a:latin typeface="Calibri"/>
              </a:rPr>
              <a:t>APPENDIX · A5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868680"/>
            <a:ext cx="1280160" cy="50800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2F4F8"/>
                </a:solidFill>
                <a:latin typeface="Calibri"/>
              </a:rPr>
              <a:t>Assumptions register and 3-year P&amp;L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331720"/>
            <a:ext cx="11064240" cy="3931920"/>
          </a:xfrm>
          <a:prstGeom prst="rect">
            <a:avLst/>
          </a:prstGeom>
          <a:solidFill>
            <a:srgbClr val="1A1A2E"/>
          </a:solidFill>
          <a:ln w="12700">
            <a:solidFill>
              <a:srgbClr val="2C2C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560320"/>
            <a:ext cx="10332720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1">
                <a:solidFill>
                  <a:srgbClr val="00BCEB"/>
                </a:solidFill>
                <a:latin typeface="Calibri"/>
              </a:rPr>
              <a:t>•  </a:t>
            </a:r>
            <a:r>
              <a:rPr sz="1700" b="0">
                <a:solidFill>
                  <a:srgbClr val="F2F4F8"/>
                </a:solidFill>
                <a:latin typeface="Calibri"/>
              </a:rPr>
              <a:t>Every financial input (A1–A13) is visible and editable</a:t>
            </a:r>
          </a:p>
          <a:p>
            <a:pPr algn="l">
              <a:spcAft>
                <a:spcPts val="1000"/>
              </a:spcAft>
            </a:pPr>
            <a:r>
              <a:rPr sz="1700" b="1">
                <a:solidFill>
                  <a:srgbClr val="00BCEB"/>
                </a:solidFill>
                <a:latin typeface="Calibri"/>
              </a:rPr>
              <a:t>•  </a:t>
            </a:r>
            <a:r>
              <a:rPr sz="1700" b="0">
                <a:solidFill>
                  <a:srgbClr val="F2F4F8"/>
                </a:solidFill>
                <a:latin typeface="Calibri"/>
              </a:rPr>
              <a:t>3-year scale path with improving ROI multiple</a:t>
            </a:r>
          </a:p>
          <a:p>
            <a:pPr algn="l">
              <a:spcAft>
                <a:spcPts val="1000"/>
              </a:spcAft>
            </a:pPr>
            <a:r>
              <a:rPr sz="1700" b="1">
                <a:solidFill>
                  <a:srgbClr val="00BCEB"/>
                </a:solidFill>
                <a:latin typeface="Calibri"/>
              </a:rPr>
              <a:t>•  </a:t>
            </a:r>
            <a:r>
              <a:rPr sz="1700" b="0">
                <a:solidFill>
                  <a:srgbClr val="F2F4F8"/>
                </a:solidFill>
                <a:latin typeface="Calibri"/>
              </a:rPr>
              <a:t>Structure holds; only inputs change when actuals are plugged 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3B2"/>
                </a:solidFill>
                <a:latin typeface="Calibri"/>
              </a:rPr>
              <a:t>Appendix — reserve for Q&amp;A. Illustrative figures.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0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0BCEB"/>
                </a:solidFill>
                <a:latin typeface="Calibri"/>
              </a:rPr>
              <a:t>APPENDIX · A6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868680"/>
            <a:ext cx="1280160" cy="50800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2F4F8"/>
                </a:solidFill>
                <a:latin typeface="Calibri"/>
              </a:rPr>
              <a:t>Compensation design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331720"/>
            <a:ext cx="11064240" cy="3931920"/>
          </a:xfrm>
          <a:prstGeom prst="rect">
            <a:avLst/>
          </a:prstGeom>
          <a:solidFill>
            <a:srgbClr val="1A1A2E"/>
          </a:solidFill>
          <a:ln w="12700">
            <a:solidFill>
              <a:srgbClr val="2C2C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560320"/>
            <a:ext cx="10332720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1">
                <a:solidFill>
                  <a:srgbClr val="00BCEB"/>
                </a:solidFill>
                <a:latin typeface="Calibri"/>
              </a:rPr>
              <a:t>•  </a:t>
            </a:r>
            <a:r>
              <a:rPr sz="1700" b="0">
                <a:solidFill>
                  <a:srgbClr val="F2F4F8"/>
                </a:solidFill>
                <a:latin typeface="Calibri"/>
              </a:rPr>
              <a:t>Influence credit is additive — BU sellers keep 100% of product credit</a:t>
            </a:r>
          </a:p>
          <a:p>
            <a:pPr algn="l">
              <a:spcAft>
                <a:spcPts val="1000"/>
              </a:spcAft>
            </a:pPr>
            <a:r>
              <a:rPr sz="1700" b="1">
                <a:solidFill>
                  <a:srgbClr val="00BCEB"/>
                </a:solidFill>
                <a:latin typeface="Calibri"/>
              </a:rPr>
              <a:t>•  </a:t>
            </a:r>
            <a:r>
              <a:rPr sz="1700" b="0">
                <a:solidFill>
                  <a:srgbClr val="F2F4F8"/>
                </a:solidFill>
                <a:latin typeface="Calibri"/>
              </a:rPr>
              <a:t>Weighting: 50% influenced bookings, 20% Splunk attach, 15% leading, 15% MBOs</a:t>
            </a:r>
          </a:p>
          <a:p>
            <a:pPr algn="l">
              <a:spcAft>
                <a:spcPts val="1000"/>
              </a:spcAft>
            </a:pPr>
            <a:r>
              <a:rPr sz="1700" b="1">
                <a:solidFill>
                  <a:srgbClr val="00BCEB"/>
                </a:solidFill>
                <a:latin typeface="Calibri"/>
              </a:rPr>
              <a:t>•  </a:t>
            </a:r>
            <a:r>
              <a:rPr sz="1700" b="0">
                <a:solidFill>
                  <a:srgbClr val="F2F4F8"/>
                </a:solidFill>
                <a:latin typeface="Calibri"/>
              </a:rPr>
              <a:t>Deal desk arbitrates via the influence ledger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3B2"/>
                </a:solidFill>
                <a:latin typeface="Calibri"/>
              </a:rPr>
              <a:t>Appendix — reserve for Q&amp;A. Illustrative figures.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0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0BCEB"/>
                </a:solidFill>
                <a:latin typeface="Calibri"/>
              </a:rPr>
              <a:t>APPENDIX · A7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868680"/>
            <a:ext cx="1280160" cy="50800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2F4F8"/>
                </a:solidFill>
                <a:latin typeface="Calibri"/>
              </a:rPr>
              <a:t>Competitive framing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331720"/>
            <a:ext cx="11064240" cy="3931920"/>
          </a:xfrm>
          <a:prstGeom prst="rect">
            <a:avLst/>
          </a:prstGeom>
          <a:solidFill>
            <a:srgbClr val="1A1A2E"/>
          </a:solidFill>
          <a:ln w="12700">
            <a:solidFill>
              <a:srgbClr val="2C2C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560320"/>
            <a:ext cx="10332720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1">
                <a:solidFill>
                  <a:srgbClr val="00BCEB"/>
                </a:solidFill>
                <a:latin typeface="Calibri"/>
              </a:rPr>
              <a:t>•  </a:t>
            </a:r>
            <a:r>
              <a:rPr sz="1700" b="0">
                <a:solidFill>
                  <a:srgbClr val="F2F4F8"/>
                </a:solidFill>
                <a:latin typeface="Calibri"/>
              </a:rPr>
              <a:t>Point vendors, SIEM/observability specialists, SIs, hyperscalers</a:t>
            </a:r>
          </a:p>
          <a:p>
            <a:pPr algn="l">
              <a:spcAft>
                <a:spcPts val="1000"/>
              </a:spcAft>
            </a:pPr>
            <a:r>
              <a:rPr sz="1700" b="1">
                <a:solidFill>
                  <a:srgbClr val="00BCEB"/>
                </a:solidFill>
                <a:latin typeface="Calibri"/>
              </a:rPr>
              <a:t>•  </a:t>
            </a:r>
            <a:r>
              <a:rPr sz="1700" b="0">
                <a:solidFill>
                  <a:srgbClr val="F2F4F8"/>
                </a:solidFill>
                <a:latin typeface="Calibri"/>
              </a:rPr>
              <a:t>The SI dynamic is the biggest structural risk — co-author the architecture</a:t>
            </a:r>
          </a:p>
          <a:p>
            <a:pPr algn="l">
              <a:spcAft>
                <a:spcPts val="1000"/>
              </a:spcAft>
            </a:pPr>
            <a:r>
              <a:rPr sz="1700" b="1">
                <a:solidFill>
                  <a:srgbClr val="00BCEB"/>
                </a:solidFill>
                <a:latin typeface="Calibri"/>
              </a:rPr>
              <a:t>•  </a:t>
            </a:r>
            <a:r>
              <a:rPr sz="1700" b="0">
                <a:solidFill>
                  <a:srgbClr val="F2F4F8"/>
                </a:solidFill>
                <a:latin typeface="Calibri"/>
              </a:rPr>
              <a:t>Whoever frames the architecture wins the budget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3B2"/>
                </a:solidFill>
                <a:latin typeface="Calibri"/>
              </a:rPr>
              <a:t>Appendix — reserve for Q&amp;A. Illustrative figures.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0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0BCEB"/>
                </a:solidFill>
                <a:latin typeface="Calibri"/>
              </a:rPr>
              <a:t>APPENDIX · A8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868680"/>
            <a:ext cx="1280160" cy="50800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2F4F8"/>
                </a:solidFill>
                <a:latin typeface="Calibri"/>
              </a:rPr>
              <a:t>Full risk register and early-warning indicators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331720"/>
            <a:ext cx="11064240" cy="3931920"/>
          </a:xfrm>
          <a:prstGeom prst="rect">
            <a:avLst/>
          </a:prstGeom>
          <a:solidFill>
            <a:srgbClr val="1A1A2E"/>
          </a:solidFill>
          <a:ln w="12700">
            <a:solidFill>
              <a:srgbClr val="2C2C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560320"/>
            <a:ext cx="10332720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1">
                <a:solidFill>
                  <a:srgbClr val="00BCEB"/>
                </a:solidFill>
                <a:latin typeface="Calibri"/>
              </a:rPr>
              <a:t>•  </a:t>
            </a:r>
            <a:r>
              <a:rPr sz="1700" b="0">
                <a:solidFill>
                  <a:srgbClr val="F2F4F8"/>
                </a:solidFill>
                <a:latin typeface="Calibri"/>
              </a:rPr>
              <a:t>12 risks with likelihood, impact, mitigation, and owner</a:t>
            </a:r>
          </a:p>
          <a:p>
            <a:pPr algn="l">
              <a:spcAft>
                <a:spcPts val="1000"/>
              </a:spcAft>
            </a:pPr>
            <a:r>
              <a:rPr sz="1700" b="1">
                <a:solidFill>
                  <a:srgbClr val="00BCEB"/>
                </a:solidFill>
                <a:latin typeface="Calibri"/>
              </a:rPr>
              <a:t>•  </a:t>
            </a:r>
            <a:r>
              <a:rPr sz="1700" b="0">
                <a:solidFill>
                  <a:srgbClr val="F2F4F8"/>
                </a:solidFill>
                <a:latin typeface="Calibri"/>
              </a:rPr>
              <a:t>Leading signals with explicit action triggers</a:t>
            </a:r>
          </a:p>
          <a:p>
            <a:pPr algn="l">
              <a:spcAft>
                <a:spcPts val="1000"/>
              </a:spcAft>
            </a:pPr>
            <a:r>
              <a:rPr sz="1700" b="1">
                <a:solidFill>
                  <a:srgbClr val="00BCEB"/>
                </a:solidFill>
                <a:latin typeface="Calibri"/>
              </a:rPr>
              <a:t>•  </a:t>
            </a:r>
            <a:r>
              <a:rPr sz="1700" b="0">
                <a:solidFill>
                  <a:srgbClr val="F2F4F8"/>
                </a:solidFill>
                <a:latin typeface="Calibri"/>
              </a:rPr>
              <a:t>Bounded downside via the Q3 gate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3B2"/>
                </a:solidFill>
                <a:latin typeface="Calibri"/>
              </a:rPr>
              <a:t>Appendix — reserve for Q&amp;A. Illustrative figures.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