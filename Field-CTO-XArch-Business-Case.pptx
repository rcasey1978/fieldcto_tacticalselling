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now own the most complete portfolio in the market. This deck asks leadership to fund a small, senior team whose only job is to sell it as one integrated outcome. It's a bounded, high-leverage bet with a Q3 stop gate. Keep the room focused on the decision: fund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tension: portfolio completeness without a motion to sell it as one. Land the line: 'the customer experiences four Cisco conversations, not one.' Then make inaction concrete: the GAP between a flat renewal and an X-Arch reframe, repeated across ~50 strategic accounts a year, is recurring, not one-time. Source: 01 §1 (problem + cost-of-inaction 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Urgency without hype. The integrations are real and fresh; consolidation and AI builds create cross-architecture entry points right now. First mover on the motion compounds. Source: 01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competitors can't match end-to-end. Walk the loop once, slowly, and point at the arrows — that's where the incremental value lives. Source: 02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role crisply and pre-empt the 'another overlay team' objection: this is leverage that makes existing teams MORE productive. Thin, senior, orchestration-first. Source: 01 §3; 03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mode, not separate headcount. Two things to stress: the mission is focused but the point is durable, multi-year growth for Cisco (it always hands the account back — no hoarding), and 'Black Ops' is a special-forces posture metaphor — fully ethical, nothing hidden from the customer. Source: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boil the ocean: three anchor pillars with the clearest boardroom narrative, plus AI-ready infra as adjacency. Four verticals chosen for high cross-attach, regulatory/resilience pull, and joint Cisco+Splunk strength — swappable without changing the operating design. Source: 02 §4–5; 04 master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is systematized, not dependent on a few heroes. The play library codifies the knowledge so the motion scales and survives key-person risk. Source: 05 §1–2.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proof. Walk the transformation: stalled + SI-locked → executive breakthrough → one co-authored architecture → multi-year program. Stress the OT safety boundary as the trust-winner with airport engineering. Source: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slide. Anchor on break-even (~$9M bookings, about five deals, covers the entire $5.4M cost); everything above is upside. All three scenarios clear break-even — the question is pace, not payback. Illustrative and parameterized. Source: 01 §6; 06 §2–3,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ask plainly and immediately bound the downside: small, senior team; defined spend; a real stop gate at Q3. Ask for the decision. Source: 01 §5; 06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skeptic. We measure with control accounts, so influence is proven not asserted; and we can stop at Q3 if the deltas aren't there. Source: 07 §1–3; 05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clear call to action and a concrete near-term timeline so approval feels actionable, not open-ended. Restate: bounded downside, differentiated upside. Ask for the yes. Source: 01 §9; README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only if the room asks. Don't present them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for HR/org-design questions. Source: 03 §1–3.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'where does it sit / who owns what' questions. Source: 03 §5,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'how do we actually sell this' questions. Source: 04 §1–4.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OT/operations stakeholders. Source: 04 OT safety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finance deep-dives. Source: 06 §0,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comp/quota questions. Source: 05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competitive/positioning questions. Source: 02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risk/governance questions. Source: 07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EXECUTIVE FUNDING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F4F8"/>
                </a:solidFill>
                <a:latin typeface="Calibri"/>
              </a:rPr>
              <a:t>Field CTO X-Arch 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9AA3B2"/>
                </a:solidFill>
                <a:latin typeface="Calibri"/>
              </a:rPr>
              <a:t>Funding the motion that monetizes Cisco + Splunk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Illustrative business case — figures are parameterized placeholders.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We own the most complete portfolio — and still sell it in silos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Four Cisco conversations, not one outcome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Speeds-and-feeds, not funded outcomes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Splunk + Cisco attach under-realized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SIs own the 'architecture of the deal'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Inaction: nine-figure pipeline, forgone yearly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66559" y="2651760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Networking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5419" y="2651760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Security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3401568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Observability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419" y="3401568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SecOps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709659" y="3995928"/>
            <a:ext cx="457200" cy="384048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01014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59" y="4498848"/>
            <a:ext cx="4343400" cy="73152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01014"/>
                </a:solidFill>
                <a:latin typeface="Calibri"/>
              </a:rPr>
              <a:t>One integrated 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The post-Splunk window is open — and closing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One vendor, edge to SOC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Integrations live and shipping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Consolidation → a C-suite frame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AI build-outs pull it all forward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697479"/>
            <a:ext cx="4617720" cy="62865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Portfolio complete: edge → SOC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3554729"/>
            <a:ext cx="4617720" cy="62865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Integrations: XDR+ES, TE+AppD, Cyber Vision+OT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4411979"/>
            <a:ext cx="4617720" cy="62865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Vendor consolidation → C-suite 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5269229"/>
            <a:ext cx="4617720" cy="62865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AI build-outs pull all pillars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DIFFERENTIATOR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One vendor, edge to SOC — if someone tells it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Every arrow between pillars = a cross-sell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Others own one box; we own the arrows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Splunk + Cisco: top under-executed play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The story rivals can't match end-to-end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60603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Sense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91955" y="3110788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3330244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Connect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91955" y="3834993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405444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Secure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91955" y="4559198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9400" y="4778654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Understand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91955" y="5283403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550285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thin, senior Field CTO seller group that leads across architectures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Owns the CxO outcome conversation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Architects across BUs; specialists close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Vertical-credible (NIS2/DORA/HIPAA)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Orchestrates — not another overlay 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8938259" y="2971799"/>
            <a:ext cx="0" cy="132588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938259" y="3887960"/>
            <a:ext cx="1695810" cy="409719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38259" y="4297679"/>
            <a:ext cx="1048069" cy="107266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890191" y="4297679"/>
            <a:ext cx="1048068" cy="107266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7242450" y="3887960"/>
            <a:ext cx="1695809" cy="409719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75319" y="272033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CxO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71129" y="3636500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Networking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3388" y="511887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Splunk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7251" y="511887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Security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9510" y="3636500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Account Exec</a:t>
            </a:r>
          </a:p>
        </p:txBody>
      </p:sp>
      <p:sp>
        <p:nvSpPr>
          <p:cNvPr id="19" name="Oval 18"/>
          <p:cNvSpPr/>
          <p:nvPr/>
        </p:nvSpPr>
        <p:spPr>
          <a:xfrm>
            <a:off x="8161019" y="3941063"/>
            <a:ext cx="1554480" cy="713232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Field 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EXTENDING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Black Ops: an elite tiger team for the accounts nobody can crack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Marathon coverage + breakthrough mission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For stalled / SI-locked / narrow-window whales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~60–120 days → durable multi-year growth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Always hands the account back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Ethical; OT read-only guardrails 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651760"/>
            <a:ext cx="4617720" cy="844295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Stalled / SI-locked whale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3667" y="3514344"/>
            <a:ext cx="329184" cy="265176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3806952"/>
            <a:ext cx="4617720" cy="84429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01014"/>
                </a:solidFill>
                <a:latin typeface="Calibri"/>
              </a:rPr>
              <a:t>BREAKTHROUGH · ~60–120 days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3667" y="4669535"/>
            <a:ext cx="329184" cy="265176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4962143"/>
            <a:ext cx="4617720" cy="84429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01014"/>
                </a:solidFill>
                <a:latin typeface="Calibri"/>
              </a:rPr>
              <a:t>Durable multi-year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6135623"/>
            <a:ext cx="4617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Always hands the account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Three high-attach architectures, four high-pull verticals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3 anchor pillars + 1 adjacency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Chosen for cross-attach + regulatory pull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Joint Cisco + Splunk strength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The list is swappable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496312"/>
            <a:ext cx="47091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3 + 1 ARCHITECTURES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79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Networking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06690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Observe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9699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SecOps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52709" y="2788920"/>
            <a:ext cx="1040129" cy="640080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+1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611879"/>
            <a:ext cx="47091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4 VERTICALS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79" y="3904487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Transportation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3904487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Financial Svcs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4745736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Healthcare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59" y="4745736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Public Sector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repeatable lifecycle and a library of plays — not heroics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 repeatable, six-stage lifecycle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 library of packaged plays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Play = script + architecture + value + proof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Scales; survives key-person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606039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Select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91955" y="2990087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3209544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Frame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91955" y="3593591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3813048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Architect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91955" y="4197096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9400" y="4416552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Value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91955" y="4800600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5020056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Close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91955" y="5404104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29400" y="5623560"/>
            <a:ext cx="4617720" cy="365759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01014"/>
                </a:solidFill>
                <a:latin typeface="Calibri"/>
              </a:rPr>
              <a:t>Expand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WORKED EXAMPLE · AVIATION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Airport operator: Black Ops broke open a stalled 'smart airport'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OT hub + NIS2 + a Terminal 4 build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SI about to lock — pod convened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Reframed as board-level resilience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One architecture across the stack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Won OT trust, then handed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5244083"/>
            <a:ext cx="4617720" cy="69951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OT — read-only / passive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379975"/>
            <a:ext cx="4617720" cy="69951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Secure Networking — segmentation + SD-WAN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3515868"/>
            <a:ext cx="4617720" cy="69951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Observability — Splunk OT / ITSI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651760"/>
            <a:ext cx="4617720" cy="69951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Resilience — Splunk ES + Cisco XDR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~$180M influenced pipeline, ~$60M bookings, payback &lt;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~$180M influenced pipeline (Yr 1)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~$60M bookings → ~$36M margin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Break-even ~$9M — about five deals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Profitable across every 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2441448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Net profit by scenario ($M, illustrative)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28509" y="5148775"/>
            <a:ext cx="723900" cy="474784"/>
          </a:xfrm>
          <a:prstGeom prst="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5629" y="4837879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9909" y="5678423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Conserv.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76310" y="3988190"/>
            <a:ext cx="723900" cy="1635369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3430" y="3677294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$31M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7710" y="5678423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24110" y="3196883"/>
            <a:ext cx="723900" cy="2426676"/>
          </a:xfrm>
          <a:prstGeom prst="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41230" y="2885987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$46M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95510" y="5678423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Upside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75120" y="5623559"/>
            <a:ext cx="4526279" cy="0"/>
          </a:xfrm>
          <a:prstGeom prst="line">
            <a:avLst/>
          </a:prstGeom>
          <a:ln w="1270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Fund a 12-person, 4-quarter pilot (~$5.4M illustrative)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12 people, 4 quarters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Internal-first staffing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~40–60 accounts + paired controls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Q3 go/expand/stop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29400" y="2697479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8 × Field CTO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5420" y="2697479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1 × Group lead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3657600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2 × X-Arch architect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420" y="3657600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1 × Deal desk /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63440"/>
            <a:ext cx="4617720" cy="77724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~$5.4M / yr  ·  Q3 go/expand/stop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BOUNDED RISK +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Q3 gate and control-account measurement make this low-risk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Q3 gate caps the downside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Control accounts prove the deltas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Talent / comp / attribution mitigated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Influence ledger prevents disputes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8069579" y="2743200"/>
            <a:ext cx="1737360" cy="1280160"/>
          </a:xfrm>
          <a:prstGeom prst="diamond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Q3 GATE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692390" y="3931920"/>
            <a:ext cx="925829" cy="41148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258299" y="3931920"/>
            <a:ext cx="925831" cy="411480"/>
          </a:xfrm>
          <a:prstGeom prst="line">
            <a:avLst/>
          </a:prstGeom>
          <a:ln w="15875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20840" y="4343400"/>
            <a:ext cx="1943100" cy="640080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Continue / expand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12580" y="4343400"/>
            <a:ext cx="1943100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Stop — spend capped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434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Proof: touched vs. control — attach · deal size · win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Approve the pilot; first executive framings within 90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Approve: 12 people, 4 quarters, Q3 gate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+30d: lead, charter, comp, metrics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+60d: cohort + accounts selected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+90d: first framings; enablement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903720" y="4297679"/>
            <a:ext cx="4069080" cy="0"/>
          </a:xfrm>
          <a:prstGeom prst="line">
            <a:avLst/>
          </a:prstGeom>
          <a:ln w="25400">
            <a:solidFill>
              <a:srgbClr val="00B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784848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Day 0</a:t>
            </a:r>
          </a:p>
        </p:txBody>
      </p:sp>
      <p:sp>
        <p:nvSpPr>
          <p:cNvPr id="13" name="Oval 12"/>
          <p:cNvSpPr/>
          <p:nvPr/>
        </p:nvSpPr>
        <p:spPr>
          <a:xfrm>
            <a:off x="8141207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428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+30d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7120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Lead · charter · comp</a:t>
            </a:r>
          </a:p>
        </p:txBody>
      </p:sp>
      <p:sp>
        <p:nvSpPr>
          <p:cNvPr id="16" name="Oval 15"/>
          <p:cNvSpPr/>
          <p:nvPr/>
        </p:nvSpPr>
        <p:spPr>
          <a:xfrm>
            <a:off x="9497567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064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+60d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93479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Cohort + accounts</a:t>
            </a:r>
          </a:p>
        </p:txBody>
      </p:sp>
      <p:sp>
        <p:nvSpPr>
          <p:cNvPr id="19" name="Oval 18"/>
          <p:cNvSpPr/>
          <p:nvPr/>
        </p:nvSpPr>
        <p:spPr>
          <a:xfrm>
            <a:off x="10853928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+90d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First framings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4F8"/>
                </a:solidFill>
                <a:latin typeface="Calibri"/>
              </a:rPr>
              <a:t>Detail held in reserve for Q&amp;A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Role, competencies, and skills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4 pillars: business, X-arch, exec presence, orchestration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Deep in ≥2 pillars; conversant in all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Deep in one vertical; team covers four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Org placement and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GTM-primary; dotted line to CTO/eng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Revenue-accountable AND BU-neutral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Field CTO owns frame; AE owns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Per-vertical field engagement kits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Buyers, discovery, hypotheses, objections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One kit per vertical (x4)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Strategy → field-ready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OT safety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Read-only / passive acquisition only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Never write to PLC/HMI/DCS/RTU/SIS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Guardrail AND trust-winning differentiator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Assumptions register and 3-year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Every input (A1–A13) editable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3-year scale path; improving ROI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Structure holds; only inputs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Compensation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Influence credit is additive — BUs keep 100%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50% bookings / 20% attach / 15% leading / 15% MBO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Deal desk arbitrates via the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Competitive framing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Point vendors, SIEM, SIs, hyperscalers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SI dynamic is the biggest structural risk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Whoever frames the architecture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Full risk register + early warnings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12 risks: likelihood, impact, mitigation, owner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Leading signals with action triggers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•  </a:t>
            </a:r>
            <a:r>
              <a:rPr sz="1800" b="0">
                <a:solidFill>
                  <a:srgbClr val="F2F4F8"/>
                </a:solidFill>
                <a:latin typeface="Calibri"/>
              </a:rPr>
              <a:t>Bounded downside via the Q3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